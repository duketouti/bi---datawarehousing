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5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6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7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8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9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0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1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2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3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4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5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6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7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18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9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20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21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22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23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24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25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26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27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28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29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30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notesSlides/notesSlide31.xml" ContentType="application/vnd.openxmlformats-officedocument.presentationml.notesSlide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32.xml" ContentType="application/vnd.openxmlformats-officedocument.presentationml.notesSlide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33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34.xml" ContentType="application/vnd.openxmlformats-officedocument.presentationml.notesSlid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35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notesSlides/notesSlide36.xml" ContentType="application/vnd.openxmlformats-officedocument.presentationml.notesSlid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37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38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notesSlides/notesSlide39.xml" ContentType="application/vnd.openxmlformats-officedocument.presentationml.notesSlide+xml"/>
  <Override PartName="/ppt/tags/tag144.xml" ContentType="application/vnd.openxmlformats-officedocument.presentationml.tags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42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notesSlides/notesSlide47.xml" ContentType="application/vnd.openxmlformats-officedocument.presentationml.notesSlide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notesSlides/notesSlide48.xml" ContentType="application/vnd.openxmlformats-officedocument.presentationml.notesSlide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49.xml" ContentType="application/vnd.openxmlformats-officedocument.presentationml.notesSlide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notesSlides/notesSlide50.xml" ContentType="application/vnd.openxmlformats-officedocument.presentationml.notesSlide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51.xml" ContentType="application/vnd.openxmlformats-officedocument.presentationml.notesSlid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tags/tag175.xml" ContentType="application/vnd.openxmlformats-officedocument.presentationml.tags+xml"/>
  <Override PartName="/ppt/notesSlides/notesSlide55.xml" ContentType="application/vnd.openxmlformats-officedocument.presentationml.notesSlide+xml"/>
  <Override PartName="/ppt/tags/tag176.xml" ContentType="application/vnd.openxmlformats-officedocument.presentationml.tags+xml"/>
  <Override PartName="/ppt/notesSlides/notesSlide56.xml" ContentType="application/vnd.openxmlformats-officedocument.presentationml.notesSlide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notesSlides/notesSlide57.xml" ContentType="application/vnd.openxmlformats-officedocument.presentationml.notesSlide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notesSlides/notesSlide58.xml" ContentType="application/vnd.openxmlformats-officedocument.presentationml.notesSlide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notesSlides/notesSlide59.xml" ContentType="application/vnd.openxmlformats-officedocument.presentationml.notesSlide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  <p:sldMasterId id="2147483790" r:id="rId2"/>
  </p:sldMasterIdLst>
  <p:notesMasterIdLst>
    <p:notesMasterId r:id="rId67"/>
  </p:notesMasterIdLst>
  <p:handoutMasterIdLst>
    <p:handoutMasterId r:id="rId68"/>
  </p:handoutMasterIdLst>
  <p:sldIdLst>
    <p:sldId id="567" r:id="rId3"/>
    <p:sldId id="300" r:id="rId4"/>
    <p:sldId id="267" r:id="rId5"/>
    <p:sldId id="299" r:id="rId6"/>
    <p:sldId id="568" r:id="rId7"/>
    <p:sldId id="333" r:id="rId8"/>
    <p:sldId id="374" r:id="rId9"/>
    <p:sldId id="458" r:id="rId10"/>
    <p:sldId id="459" r:id="rId11"/>
    <p:sldId id="460" r:id="rId12"/>
    <p:sldId id="461" r:id="rId13"/>
    <p:sldId id="462" r:id="rId14"/>
    <p:sldId id="521" r:id="rId15"/>
    <p:sldId id="522" r:id="rId16"/>
    <p:sldId id="464" r:id="rId17"/>
    <p:sldId id="466" r:id="rId18"/>
    <p:sldId id="523" r:id="rId19"/>
    <p:sldId id="467" r:id="rId20"/>
    <p:sldId id="468" r:id="rId21"/>
    <p:sldId id="470" r:id="rId22"/>
    <p:sldId id="471" r:id="rId23"/>
    <p:sldId id="473" r:id="rId24"/>
    <p:sldId id="392" r:id="rId25"/>
    <p:sldId id="394" r:id="rId26"/>
    <p:sldId id="395" r:id="rId27"/>
    <p:sldId id="477" r:id="rId28"/>
    <p:sldId id="407" r:id="rId29"/>
    <p:sldId id="479" r:id="rId30"/>
    <p:sldId id="480" r:id="rId31"/>
    <p:sldId id="481" r:id="rId32"/>
    <p:sldId id="482" r:id="rId33"/>
    <p:sldId id="531" r:id="rId34"/>
    <p:sldId id="532" r:id="rId35"/>
    <p:sldId id="484" r:id="rId36"/>
    <p:sldId id="518" r:id="rId37"/>
    <p:sldId id="524" r:id="rId38"/>
    <p:sldId id="487" r:id="rId39"/>
    <p:sldId id="489" r:id="rId40"/>
    <p:sldId id="490" r:id="rId41"/>
    <p:sldId id="491" r:id="rId42"/>
    <p:sldId id="492" r:id="rId43"/>
    <p:sldId id="501" r:id="rId44"/>
    <p:sldId id="493" r:id="rId45"/>
    <p:sldId id="509" r:id="rId46"/>
    <p:sldId id="510" r:id="rId47"/>
    <p:sldId id="513" r:id="rId48"/>
    <p:sldId id="514" r:id="rId49"/>
    <p:sldId id="511" r:id="rId50"/>
    <p:sldId id="515" r:id="rId51"/>
    <p:sldId id="512" r:id="rId52"/>
    <p:sldId id="516" r:id="rId53"/>
    <p:sldId id="517" r:id="rId54"/>
    <p:sldId id="525" r:id="rId55"/>
    <p:sldId id="526" r:id="rId56"/>
    <p:sldId id="502" r:id="rId57"/>
    <p:sldId id="503" r:id="rId58"/>
    <p:sldId id="527" r:id="rId59"/>
    <p:sldId id="528" r:id="rId60"/>
    <p:sldId id="529" r:id="rId61"/>
    <p:sldId id="530" r:id="rId62"/>
    <p:sldId id="504" r:id="rId63"/>
    <p:sldId id="519" r:id="rId64"/>
    <p:sldId id="520" r:id="rId65"/>
    <p:sldId id="279" r:id="rId66"/>
  </p:sldIdLst>
  <p:sldSz cx="9144000" cy="6858000" type="screen4x3"/>
  <p:notesSz cx="7010400" cy="9236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B137C54-94D2-45F6-9424-5285204B14CE}">
          <p14:sldIdLst/>
        </p14:section>
        <p14:section name="1-Retour" id="{011D8863-5DD2-4332-9DF1-B1A1419428B0}">
          <p14:sldIdLst>
            <p14:sldId id="567"/>
            <p14:sldId id="300"/>
            <p14:sldId id="267"/>
            <p14:sldId id="299"/>
            <p14:sldId id="568"/>
          </p14:sldIdLst>
        </p14:section>
        <p14:section name="2-Fonctions d’agrégation" id="{865819C4-6DC3-47A7-AFA5-9FB7607B5ED3}">
          <p14:sldIdLst>
            <p14:sldId id="333"/>
            <p14:sldId id="374"/>
            <p14:sldId id="458"/>
            <p14:sldId id="459"/>
            <p14:sldId id="460"/>
            <p14:sldId id="461"/>
            <p14:sldId id="462"/>
            <p14:sldId id="521"/>
            <p14:sldId id="522"/>
            <p14:sldId id="464"/>
            <p14:sldId id="466"/>
          </p14:sldIdLst>
        </p14:section>
        <p14:section name="3-Filtrage et tri des résultats" id="{05222CC6-3D53-4BB7-A703-CD923183A388}">
          <p14:sldIdLst>
            <p14:sldId id="523"/>
            <p14:sldId id="467"/>
            <p14:sldId id="468"/>
            <p14:sldId id="470"/>
            <p14:sldId id="471"/>
            <p14:sldId id="473"/>
            <p14:sldId id="392"/>
            <p14:sldId id="394"/>
            <p14:sldId id="395"/>
            <p14:sldId id="477"/>
            <p14:sldId id="407"/>
            <p14:sldId id="479"/>
            <p14:sldId id="480"/>
            <p14:sldId id="481"/>
            <p14:sldId id="482"/>
            <p14:sldId id="531"/>
            <p14:sldId id="532"/>
          </p14:sldIdLst>
        </p14:section>
        <p14:section name="4-Vues" id="{BD0179FC-9EE6-4456-A3E6-40E63E6618AD}">
          <p14:sldIdLst>
            <p14:sldId id="484"/>
            <p14:sldId id="518"/>
            <p14:sldId id="524"/>
            <p14:sldId id="487"/>
            <p14:sldId id="489"/>
            <p14:sldId id="490"/>
            <p14:sldId id="491"/>
            <p14:sldId id="492"/>
            <p14:sldId id="501"/>
            <p14:sldId id="493"/>
          </p14:sldIdLst>
        </p14:section>
        <p14:section name="5-Fonctions prédéfinies" id="{4E53FA76-FB20-42C2-A76D-61E67246DB2C}">
          <p14:sldIdLst>
            <p14:sldId id="509"/>
            <p14:sldId id="510"/>
            <p14:sldId id="513"/>
            <p14:sldId id="514"/>
            <p14:sldId id="511"/>
            <p14:sldId id="515"/>
            <p14:sldId id="512"/>
            <p14:sldId id="516"/>
            <p14:sldId id="517"/>
            <p14:sldId id="525"/>
            <p14:sldId id="526"/>
            <p14:sldId id="502"/>
            <p14:sldId id="503"/>
            <p14:sldId id="527"/>
            <p14:sldId id="528"/>
            <p14:sldId id="529"/>
            <p14:sldId id="530"/>
            <p14:sldId id="504"/>
            <p14:sldId id="519"/>
            <p14:sldId id="520"/>
          </p14:sldIdLst>
        </p14:section>
        <p14:section name="Travail à faire" id="{388D39E5-FD0A-4EE3-BBD3-E393351CD070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douard labbe-guerard" initials="el" lastIdx="13" clrIdx="0">
    <p:extLst>
      <p:ext uri="{19B8F6BF-5375-455C-9EA6-DF929625EA0E}">
        <p15:presenceInfo xmlns:p15="http://schemas.microsoft.com/office/powerpoint/2012/main" userId="edouard labbe-guerar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9A"/>
    <a:srgbClr val="FF3399"/>
    <a:srgbClr val="FF33CC"/>
    <a:srgbClr val="F7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6" autoAdjust="0"/>
    <p:restoredTop sz="83531" autoAdjust="0"/>
  </p:normalViewPr>
  <p:slideViewPr>
    <p:cSldViewPr snapToGrid="0">
      <p:cViewPr varScale="1">
        <p:scale>
          <a:sx n="53" d="100"/>
          <a:sy n="53" d="100"/>
        </p:scale>
        <p:origin x="1448" y="52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3216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commentAuthors" Target="commentAuthor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0324EBED-7A7F-4545-AE31-3158A363EA05}" type="datetimeFigureOut">
              <a:rPr lang="fr-CA" smtClean="0"/>
              <a:t>2026-02-07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9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772669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B272BBEF-F643-4D18-BC69-255757CD802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0017164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D4B01D9D-F272-43C1-B6C0-20351D8510E6}" type="datetimeFigureOut">
              <a:rPr lang="fr-CA" smtClean="0"/>
              <a:t>2026-02-07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54113"/>
            <a:ext cx="41560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1"/>
            <a:ext cx="5608320" cy="3636705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9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508CC8E8-D47C-4A85-A41D-95421EC4BD2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3003696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4041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5644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69575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22304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8626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67076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10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92446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11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86521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12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06415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94282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15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7470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15142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32960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278819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19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036606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20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01616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388149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22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751375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486841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24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540705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25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076852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26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531790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27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871181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28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932696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29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781381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30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185658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31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182550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32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31809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33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807390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34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748742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35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003223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4D0B8-7E4D-4508-A8FD-488A8D8F35FA}" type="slidenum">
              <a:rPr lang="fr-CA" smtClean="0"/>
              <a:t>36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512364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37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30312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38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143585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39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427136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40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490682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41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664718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42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757357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43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390839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4D0B8-7E4D-4508-A8FD-488A8D8F35FA}" type="slidenum">
              <a:rPr lang="fr-CA" smtClean="0"/>
              <a:t>44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229537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4D0B8-7E4D-4508-A8FD-488A8D8F35FA}" type="slidenum">
              <a:rPr lang="fr-CA" smtClean="0"/>
              <a:t>45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366016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46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001670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47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2162733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4D0B8-7E4D-4508-A8FD-488A8D8F35FA}" type="slidenum">
              <a:rPr lang="fr-CA" smtClean="0"/>
              <a:t>48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766714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49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3613554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4D0B8-7E4D-4508-A8FD-488A8D8F35FA}" type="slidenum">
              <a:rPr lang="fr-CA" smtClean="0"/>
              <a:t>50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4901432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51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897039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52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077460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53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074222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54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25381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55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097752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56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8942200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4D0B8-7E4D-4508-A8FD-488A8D8F35FA}" type="slidenum">
              <a:rPr lang="fr-CA" smtClean="0"/>
              <a:t>57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695378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4D0B8-7E4D-4508-A8FD-488A8D8F35FA}" type="slidenum">
              <a:rPr lang="fr-CA" smtClean="0"/>
              <a:t>58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7011777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4D0B8-7E4D-4508-A8FD-488A8D8F35FA}" type="slidenum">
              <a:rPr lang="fr-CA" smtClean="0"/>
              <a:t>59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292561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4D0B8-7E4D-4508-A8FD-488A8D8F35FA}" type="slidenum">
              <a:rPr lang="fr-CA" smtClean="0"/>
              <a:t>60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0760063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61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0148476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62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6839671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63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6294756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CC8E8-D47C-4A85-A41D-95421EC4BD2E}" type="slidenum">
              <a:rPr lang="fr-CA" smtClean="0"/>
              <a:t>64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82225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n.wikipedia.org/wiki/Drum_memory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n.wikipedia.org/wiki/Drum_memory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n.wikipedia.org/wiki/Drum_memory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n.wikipedia.org/wiki/Drum_memory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rum_memory" TargetMode="External"/><Relationship Id="rId2" Type="http://schemas.openxmlformats.org/officeDocument/2006/relationships/hyperlink" Target="https://msdn.microsoft.com/en-us/library/ms174318.aspx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n.wikipedia.org/wiki/Drum_memory" TargetMode="Externa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00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-Présentation du co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fr-CA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22960" y="0"/>
            <a:ext cx="8321040" cy="404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CA" sz="2400" dirty="0">
                <a:solidFill>
                  <a:schemeClr val="bg1">
                    <a:lumMod val="50000"/>
                  </a:schemeClr>
                </a:solidFill>
              </a:rPr>
              <a:t>Retour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-1"/>
            <a:ext cx="822960" cy="80989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5400" dirty="0"/>
              <a:t>1</a:t>
            </a:r>
          </a:p>
        </p:txBody>
      </p:sp>
      <p:pic>
        <p:nvPicPr>
          <p:cNvPr id="10" name="Picture 9" descr="https://image.freepik.com/free-icon/big-white-data-base_318-9733.jpg">
            <a:hlinkClick r:id="rId2"/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4" t="17361" r="17950" b="16441"/>
          <a:stretch/>
        </p:blipFill>
        <p:spPr bwMode="auto">
          <a:xfrm>
            <a:off x="8812949" y="60041"/>
            <a:ext cx="246142" cy="292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02849" y="6459784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CA" smtClean="0"/>
            </a:lvl1pPr>
          </a:lstStyle>
          <a:p>
            <a:fld id="{6122A42A-6D93-4D0A-AE23-55584C403684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73115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Bases de donné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11" name="Rectangle 10"/>
          <p:cNvSpPr/>
          <p:nvPr userDrawn="1"/>
        </p:nvSpPr>
        <p:spPr>
          <a:xfrm>
            <a:off x="822960" y="0"/>
            <a:ext cx="8321040" cy="404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CA" sz="2400" dirty="0">
                <a:solidFill>
                  <a:schemeClr val="bg1">
                    <a:lumMod val="50000"/>
                  </a:schemeClr>
                </a:solidFill>
              </a:rPr>
              <a:t>Fonctions d’agrégation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-1"/>
            <a:ext cx="822960" cy="80989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5400" dirty="0"/>
              <a:t>2</a:t>
            </a:r>
          </a:p>
        </p:txBody>
      </p:sp>
      <p:pic>
        <p:nvPicPr>
          <p:cNvPr id="13" name="Picture 12" descr="https://image.freepik.com/free-icon/big-white-data-base_318-9733.jpg">
            <a:hlinkClick r:id="rId2"/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4" t="17361" r="17950" b="16441"/>
          <a:stretch/>
        </p:blipFill>
        <p:spPr bwMode="auto">
          <a:xfrm>
            <a:off x="8812949" y="60041"/>
            <a:ext cx="246142" cy="292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02849" y="6459784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CA" smtClean="0"/>
            </a:lvl1pPr>
          </a:lstStyle>
          <a:p>
            <a:fld id="{6122A42A-6D93-4D0A-AE23-55584C403684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012779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SQL Ser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11" name="Rectangle 10"/>
          <p:cNvSpPr/>
          <p:nvPr userDrawn="1"/>
        </p:nvSpPr>
        <p:spPr>
          <a:xfrm>
            <a:off x="822960" y="0"/>
            <a:ext cx="8321040" cy="404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CA" sz="2400" dirty="0">
                <a:solidFill>
                  <a:schemeClr val="bg1">
                    <a:lumMod val="50000"/>
                  </a:schemeClr>
                </a:solidFill>
              </a:rPr>
              <a:t>Filtrage et tri des résultats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-1"/>
            <a:ext cx="822960" cy="80989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5400" dirty="0"/>
              <a:t>3</a:t>
            </a:r>
          </a:p>
        </p:txBody>
      </p:sp>
      <p:pic>
        <p:nvPicPr>
          <p:cNvPr id="13" name="Picture 12" descr="https://image.freepik.com/free-icon/big-white-data-base_318-9733.jpg">
            <a:hlinkClick r:id="rId2"/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4" t="17361" r="17950" b="16441"/>
          <a:stretch/>
        </p:blipFill>
        <p:spPr bwMode="auto">
          <a:xfrm>
            <a:off x="8812949" y="60041"/>
            <a:ext cx="246142" cy="292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02849" y="6459784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CA" smtClean="0"/>
            </a:lvl1pPr>
          </a:lstStyle>
          <a:p>
            <a:fld id="{6122A42A-6D93-4D0A-AE23-55584C403684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266044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-SQL Ser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11" name="Rectangle 10"/>
          <p:cNvSpPr/>
          <p:nvPr userDrawn="1"/>
        </p:nvSpPr>
        <p:spPr>
          <a:xfrm>
            <a:off x="822960" y="0"/>
            <a:ext cx="8321040" cy="404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CA" sz="2400" dirty="0">
                <a:solidFill>
                  <a:schemeClr val="bg1">
                    <a:lumMod val="50000"/>
                  </a:schemeClr>
                </a:solidFill>
              </a:rPr>
              <a:t>Vues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-1"/>
            <a:ext cx="822960" cy="80989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5400" dirty="0"/>
              <a:t>4</a:t>
            </a:r>
          </a:p>
        </p:txBody>
      </p:sp>
      <p:pic>
        <p:nvPicPr>
          <p:cNvPr id="13" name="Picture 12" descr="https://image.freepik.com/free-icon/big-white-data-base_318-9733.jpg">
            <a:hlinkClick r:id="rId2"/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4" t="17361" r="17950" b="16441"/>
          <a:stretch/>
        </p:blipFill>
        <p:spPr bwMode="auto">
          <a:xfrm>
            <a:off x="8812949" y="60041"/>
            <a:ext cx="246142" cy="292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02849" y="6459784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CA" smtClean="0"/>
            </a:lvl1pPr>
          </a:lstStyle>
          <a:p>
            <a:fld id="{6122A42A-6D93-4D0A-AE23-55584C403684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95874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65212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-DDL, DM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11" name="Rectangle 10"/>
          <p:cNvSpPr/>
          <p:nvPr userDrawn="1"/>
        </p:nvSpPr>
        <p:spPr>
          <a:xfrm>
            <a:off x="822960" y="0"/>
            <a:ext cx="8321040" cy="404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4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Les fonctions prédéfinies (</a:t>
            </a:r>
            <a:r>
              <a:rPr kumimoji="0" lang="en-CA" sz="2400" b="0" i="1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Built-in Functions, </a:t>
            </a:r>
            <a:r>
              <a:rPr kumimoji="0" lang="en-CA" sz="2400" b="0" i="1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/>
              </a:rPr>
              <a:t>MSDN</a:t>
            </a:r>
            <a:r>
              <a:rPr kumimoji="0" lang="fr-CA" sz="24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fr-CA" sz="2400" b="0" i="1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-1"/>
            <a:ext cx="822960" cy="80989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CA" sz="5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5</a:t>
            </a:r>
          </a:p>
        </p:txBody>
      </p:sp>
      <p:pic>
        <p:nvPicPr>
          <p:cNvPr id="13" name="Picture 12" descr="https://image.freepik.com/free-icon/big-white-data-base_318-9733.jpg">
            <a:hlinkClick r:id="rId3"/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4" t="17361" r="17950" b="16441"/>
          <a:stretch/>
        </p:blipFill>
        <p:spPr bwMode="auto">
          <a:xfrm>
            <a:off x="8812949" y="60041"/>
            <a:ext cx="246142" cy="292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02849" y="6459784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fr-CA" kern="0" smtClean="0"/>
            </a:lvl1pPr>
          </a:lstStyle>
          <a:p>
            <a:pPr defTabSz="914400"/>
            <a:fld id="{6122A42A-6D93-4D0A-AE23-55584C403684}" type="slidenum">
              <a:rPr lang="fr-CA" smtClean="0"/>
              <a:pPr defTabSz="91440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86898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ar-M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ar-M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E25E-2C97-427F-8337-81B7C44F5A75}" type="datetimeFigureOut">
              <a:rPr lang="ar-MA" smtClean="0"/>
              <a:t>20-08-1447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E0FA8-BEDC-4710-A143-3C82BBB86E97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240951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ar-M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ar-M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E25E-2C97-427F-8337-81B7C44F5A75}" type="datetimeFigureOut">
              <a:rPr lang="ar-MA" smtClean="0"/>
              <a:t>20-08-1447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E0FA8-BEDC-4710-A143-3C82BBB86E97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450113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fr-FR"/>
              <a:t>Modifiez le style du titre</a:t>
            </a:r>
            <a:endParaRPr lang="ar-M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E25E-2C97-427F-8337-81B7C44F5A75}" type="datetimeFigureOut">
              <a:rPr lang="ar-MA" smtClean="0"/>
              <a:t>20-08-1447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E0FA8-BEDC-4710-A143-3C82BBB86E97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67002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ar-M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ar-M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ar-M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E25E-2C97-427F-8337-81B7C44F5A75}" type="datetimeFigureOut">
              <a:rPr lang="ar-MA" smtClean="0"/>
              <a:t>20-08-1447</a:t>
            </a:fld>
            <a:endParaRPr lang="a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E0FA8-BEDC-4710-A143-3C82BBB86E97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368355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ar-M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ar-M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ar-M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E25E-2C97-427F-8337-81B7C44F5A75}" type="datetimeFigureOut">
              <a:rPr lang="ar-MA" smtClean="0"/>
              <a:t>20-08-1447</a:t>
            </a:fld>
            <a:endParaRPr lang="ar-M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E0FA8-BEDC-4710-A143-3C82BBB86E97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3554983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ar-M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E25E-2C97-427F-8337-81B7C44F5A75}" type="datetimeFigureOut">
              <a:rPr lang="ar-MA" smtClean="0"/>
              <a:t>20-08-1447</a:t>
            </a:fld>
            <a:endParaRPr lang="ar-M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E0FA8-BEDC-4710-A143-3C82BBB86E97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2198143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E25E-2C97-427F-8337-81B7C44F5A75}" type="datetimeFigureOut">
              <a:rPr lang="ar-MA" smtClean="0"/>
              <a:t>20-08-1447</a:t>
            </a:fld>
            <a:endParaRPr lang="ar-M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E0FA8-BEDC-4710-A143-3C82BBB86E97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3821157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fr-FR"/>
              <a:t>Modifiez le style du titre</a:t>
            </a:r>
            <a:endParaRPr lang="ar-M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ar-M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E25E-2C97-427F-8337-81B7C44F5A75}" type="datetimeFigureOut">
              <a:rPr lang="ar-MA" smtClean="0"/>
              <a:t>20-08-1447</a:t>
            </a:fld>
            <a:endParaRPr lang="a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E0FA8-BEDC-4710-A143-3C82BBB86E97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080267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fr-FR"/>
              <a:t>Modifiez le style du titre</a:t>
            </a:r>
            <a:endParaRPr lang="ar-M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M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E25E-2C97-427F-8337-81B7C44F5A75}" type="datetimeFigureOut">
              <a:rPr lang="ar-MA" smtClean="0"/>
              <a:t>20-08-1447</a:t>
            </a:fld>
            <a:endParaRPr lang="a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E0FA8-BEDC-4710-A143-3C82BBB86E97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810994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ar-M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ar-M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E25E-2C97-427F-8337-81B7C44F5A75}" type="datetimeFigureOut">
              <a:rPr lang="ar-MA" smtClean="0"/>
              <a:t>20-08-1447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E0FA8-BEDC-4710-A143-3C82BBB86E97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37135004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ar-M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ar-M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E25E-2C97-427F-8337-81B7C44F5A75}" type="datetimeFigureOut">
              <a:rPr lang="ar-MA" smtClean="0"/>
              <a:t>20-08-1447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E0FA8-BEDC-4710-A143-3C82BBB86E97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30508042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Bases de donné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11" name="Rectangle 10"/>
          <p:cNvSpPr/>
          <p:nvPr userDrawn="1"/>
        </p:nvSpPr>
        <p:spPr>
          <a:xfrm>
            <a:off x="822960" y="0"/>
            <a:ext cx="8321040" cy="404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CA" sz="2400" dirty="0">
                <a:solidFill>
                  <a:schemeClr val="bg1">
                    <a:lumMod val="50000"/>
                  </a:schemeClr>
                </a:solidFill>
              </a:rPr>
              <a:t>Entrepôt de données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-1"/>
            <a:ext cx="822960" cy="80989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5400" dirty="0"/>
              <a:t>2</a:t>
            </a:r>
          </a:p>
        </p:txBody>
      </p:sp>
      <p:pic>
        <p:nvPicPr>
          <p:cNvPr id="13" name="Picture 12" descr="https://image.freepik.com/free-icon/big-white-data-base_318-9733.jpg">
            <a:hlinkClick r:id="rId2"/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4" t="17361" r="17950" b="16441"/>
          <a:stretch/>
        </p:blipFill>
        <p:spPr bwMode="auto">
          <a:xfrm>
            <a:off x="8812949" y="60041"/>
            <a:ext cx="246142" cy="292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02849" y="6459784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CA" smtClean="0"/>
            </a:lvl1pPr>
          </a:lstStyle>
          <a:p>
            <a:fld id="{6122A42A-6D93-4D0A-AE23-55584C403684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8483152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33257" y="6459785"/>
            <a:ext cx="4310743" cy="365125"/>
          </a:xfrm>
        </p:spPr>
        <p:txBody>
          <a:bodyPr/>
          <a:lstStyle>
            <a:lvl1pPr>
              <a:defRPr sz="1600"/>
            </a:lvl1pPr>
          </a:lstStyle>
          <a:p>
            <a:pPr algn="r"/>
            <a:endParaRPr lang="fr-CA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02849" y="6459784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CA" smtClean="0"/>
            </a:lvl1pPr>
          </a:lstStyle>
          <a:p>
            <a:fld id="{6122A42A-6D93-4D0A-AE23-55584C403684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681073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CA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02849" y="6459784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CA" smtClean="0">
                <a:solidFill>
                  <a:schemeClr val="bg1"/>
                </a:solidFill>
              </a:defRPr>
            </a:lvl1pPr>
          </a:lstStyle>
          <a:p>
            <a:fld id="{6122A42A-6D93-4D0A-AE23-55584C403684}" type="slidenum">
              <a:rPr lang="fr-CA" smtClean="0"/>
              <a:pPr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09746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3" r:id="rId2"/>
    <p:sldLayoutId id="2147483784" r:id="rId3"/>
    <p:sldLayoutId id="2147483785" r:id="rId4"/>
    <p:sldLayoutId id="2147483788" r:id="rId5"/>
    <p:sldLayoutId id="2147483787" r:id="rId6"/>
    <p:sldLayoutId id="2147483789" r:id="rId7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fr-FR"/>
              <a:t>Modifiez le style du titre</a:t>
            </a:r>
            <a:endParaRPr lang="ar-M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ar-M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7E25E-2C97-427F-8337-81B7C44F5A75}" type="datetimeFigureOut">
              <a:rPr lang="ar-MA" smtClean="0"/>
              <a:t>20-08-1447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E0FA8-BEDC-4710-A143-3C82BBB86E97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006575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M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9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9" Type="http://schemas.openxmlformats.org/officeDocument/2006/relationships/notesSlide" Target="../notesSlides/notesSlide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7" Type="http://schemas.openxmlformats.org/officeDocument/2006/relationships/image" Target="../media/image7.png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127.xml"/><Relationship Id="rId7" Type="http://schemas.openxmlformats.org/officeDocument/2006/relationships/notesSlide" Target="../notesSlides/notesSlide35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129.xml"/><Relationship Id="rId4" Type="http://schemas.openxmlformats.org/officeDocument/2006/relationships/tags" Target="../tags/tag12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132.xml"/><Relationship Id="rId7" Type="http://schemas.openxmlformats.org/officeDocument/2006/relationships/notesSlide" Target="../notesSlides/notesSlide36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134.xml"/><Relationship Id="rId4" Type="http://schemas.openxmlformats.org/officeDocument/2006/relationships/tags" Target="../tags/tag13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ms186724.aspx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tags" Target="../tags/tag150.xml"/><Relationship Id="rId7" Type="http://schemas.openxmlformats.org/officeDocument/2006/relationships/notesSlide" Target="../notesSlides/notesSlide43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52.xml"/><Relationship Id="rId4" Type="http://schemas.openxmlformats.org/officeDocument/2006/relationships/tags" Target="../tags/tag15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ms177516.aspx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sdn.microsoft.com/en-us/library/ms187928.aspx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ms181984.aspx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5" Type="http://schemas.openxmlformats.org/officeDocument/2006/relationships/notesSlide" Target="../notesSlides/notesSlide49.xml"/><Relationship Id="rId4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tags" Target="../tags/tag167.xml"/><Relationship Id="rId7" Type="http://schemas.openxmlformats.org/officeDocument/2006/relationships/image" Target="../media/image8.png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notesSlide" Target="../notesSlides/notesSlide50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6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5" Type="http://schemas.openxmlformats.org/officeDocument/2006/relationships/notesSlide" Target="../notesSlides/notesSlide51.xml"/><Relationship Id="rId4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52.xml"/><Relationship Id="rId4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6.xml"/><Relationship Id="rId4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5" Type="http://schemas.openxmlformats.org/officeDocument/2006/relationships/notesSlide" Target="../notesSlides/notesSlide57.xml"/><Relationship Id="rId4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notesSlide" Target="../notesSlides/notesSlide58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8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5" Type="http://schemas.openxmlformats.org/officeDocument/2006/relationships/notesSlide" Target="../notesSlides/notesSlide59.xml"/><Relationship Id="rId4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5" Type="http://schemas.openxmlformats.org/officeDocument/2006/relationships/notesSlide" Target="../notesSlides/notesSlide60.xml"/><Relationship Id="rId4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35616" cy="6858000"/>
          </a:xfrm>
        </p:spPr>
        <p:txBody>
          <a:bodyPr>
            <a:normAutofit/>
          </a:bodyPr>
          <a:lstStyle/>
          <a:p>
            <a:pPr rtl="0"/>
            <a:r>
              <a:rPr lang="fr-FR" sz="2800" dirty="0">
                <a:solidFill>
                  <a:srgbClr val="002060"/>
                </a:solidFill>
              </a:rPr>
              <a:t>Business Intelligence(</a:t>
            </a:r>
            <a:r>
              <a:rPr lang="fr-FR" sz="2800" dirty="0">
                <a:solidFill>
                  <a:srgbClr val="FF0000"/>
                </a:solidFill>
              </a:rPr>
              <a:t>BI</a:t>
            </a:r>
            <a:r>
              <a:rPr lang="fr-FR" sz="2800" dirty="0">
                <a:solidFill>
                  <a:srgbClr val="002060"/>
                </a:solidFill>
              </a:rPr>
              <a:t>)</a:t>
            </a:r>
            <a:br>
              <a:rPr lang="fr-FR" sz="2800" dirty="0">
                <a:solidFill>
                  <a:srgbClr val="002060"/>
                </a:solidFill>
              </a:rPr>
            </a:br>
            <a:br>
              <a:rPr lang="fr-FR" sz="2800" dirty="0">
                <a:solidFill>
                  <a:srgbClr val="002060"/>
                </a:solidFill>
              </a:rPr>
            </a:br>
            <a:r>
              <a:rPr lang="fr-FR" sz="2800" dirty="0">
                <a:solidFill>
                  <a:srgbClr val="00B050"/>
                </a:solidFill>
              </a:rPr>
              <a:t>Système d’Information Décisionnel</a:t>
            </a:r>
            <a:br>
              <a:rPr lang="fr-FR" sz="2800" dirty="0">
                <a:solidFill>
                  <a:srgbClr val="00B050"/>
                </a:solidFill>
              </a:rPr>
            </a:br>
            <a:br>
              <a:rPr lang="fr-FR" sz="2800" dirty="0">
                <a:solidFill>
                  <a:srgbClr val="00B050"/>
                </a:solidFill>
              </a:rPr>
            </a:br>
            <a:br>
              <a:rPr lang="fr-FR" sz="2800" dirty="0">
                <a:solidFill>
                  <a:srgbClr val="00B050"/>
                </a:solidFill>
              </a:rPr>
            </a:br>
            <a:br>
              <a:rPr lang="fr-FR" sz="2800" dirty="0">
                <a:solidFill>
                  <a:srgbClr val="00B050"/>
                </a:solidFill>
              </a:rPr>
            </a:br>
            <a:r>
              <a:rPr lang="fr-FR" sz="1800" b="1" dirty="0">
                <a:solidFill>
                  <a:srgbClr val="0070C0"/>
                </a:solidFill>
              </a:rPr>
              <a:t>Pr. </a:t>
            </a:r>
            <a:r>
              <a:rPr lang="fr-FR" sz="1800" b="1" dirty="0" err="1">
                <a:solidFill>
                  <a:srgbClr val="0070C0"/>
                </a:solidFill>
              </a:rPr>
              <a:t>A.Riadsolh</a:t>
            </a:r>
            <a:br>
              <a:rPr lang="fr-FR" sz="1800" b="1" dirty="0">
                <a:solidFill>
                  <a:srgbClr val="0070C0"/>
                </a:solidFill>
              </a:rPr>
            </a:br>
            <a:r>
              <a:rPr lang="fr-FR" sz="1800" b="1" dirty="0">
                <a:solidFill>
                  <a:srgbClr val="0070C0"/>
                </a:solidFill>
              </a:rPr>
              <a:t>v-Anouar.riadsolh@hec.ac.ma</a:t>
            </a:r>
            <a:br>
              <a:rPr lang="fr-FR" sz="1800" b="1" dirty="0">
                <a:solidFill>
                  <a:srgbClr val="0070C0"/>
                </a:solidFill>
              </a:rPr>
            </a:br>
            <a:br>
              <a:rPr lang="fr-FR" sz="1800" b="1" dirty="0">
                <a:solidFill>
                  <a:srgbClr val="0070C0"/>
                </a:solidFill>
              </a:rPr>
            </a:br>
            <a:r>
              <a:rPr lang="fr-FR" sz="1800" b="1" dirty="0">
                <a:solidFill>
                  <a:srgbClr val="0070C0"/>
                </a:solidFill>
              </a:rPr>
              <a:t>2025/2026</a:t>
            </a:r>
            <a:endParaRPr lang="ar-MA" sz="2000" b="1" dirty="0">
              <a:solidFill>
                <a:srgbClr val="0070C0"/>
              </a:solidFill>
            </a:endParaRPr>
          </a:p>
        </p:txBody>
      </p:sp>
      <p:pic>
        <p:nvPicPr>
          <p:cNvPr id="4" name="Image 3" descr="Une image contenant symbole, clipart, conception&#10;&#10;Le contenu généré par l’IA peut être incorrect.">
            <a:extLst>
              <a:ext uri="{FF2B5EF4-FFF2-40B4-BE49-F238E27FC236}">
                <a16:creationId xmlns:a16="http://schemas.microsoft.com/office/drawing/2014/main" id="{586FCA27-CA8E-06CD-EF00-97C39449D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188640"/>
            <a:ext cx="1733550" cy="1409700"/>
          </a:xfrm>
          <a:prstGeom prst="rect">
            <a:avLst/>
          </a:prstGeom>
        </p:spPr>
      </p:pic>
      <p:pic>
        <p:nvPicPr>
          <p:cNvPr id="7" name="Image 6" descr="Une image contenant bleu vert, sous-marin, personne&#10;&#10;Le contenu généré par l’IA peut être incorrect.">
            <a:extLst>
              <a:ext uri="{FF2B5EF4-FFF2-40B4-BE49-F238E27FC236}">
                <a16:creationId xmlns:a16="http://schemas.microsoft.com/office/drawing/2014/main" id="{0AB8B5FC-85F2-A92D-C5F3-AA9A98089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88" y="188437"/>
            <a:ext cx="196215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16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/>
          <a:lstStyle/>
          <a:p>
            <a:r>
              <a:rPr lang="fr-FR" dirty="0">
                <a:solidFill>
                  <a:srgbClr val="00B050"/>
                </a:solidFill>
              </a:rPr>
              <a:t>PLAN</a:t>
            </a:r>
            <a:endParaRPr lang="ar-MA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1309"/>
            <a:ext cx="9144000" cy="4525963"/>
          </a:xfrm>
        </p:spPr>
        <p:txBody>
          <a:bodyPr>
            <a:normAutofit fontScale="85000" lnSpcReduction="20000"/>
          </a:bodyPr>
          <a:lstStyle/>
          <a:p>
            <a:pPr algn="l" rtl="0">
              <a:buFont typeface="Wingdings" pitchFamily="2" charset="2"/>
              <a:buChar char="q"/>
            </a:pPr>
            <a:r>
              <a:rPr lang="fr-FR" dirty="0">
                <a:solidFill>
                  <a:srgbClr val="002060"/>
                </a:solidFill>
              </a:rPr>
              <a:t>Rappel sur </a:t>
            </a:r>
            <a:r>
              <a:rPr lang="fr-FR" dirty="0" err="1">
                <a:solidFill>
                  <a:srgbClr val="002060"/>
                </a:solidFill>
              </a:rPr>
              <a:t>leTransact</a:t>
            </a:r>
            <a:r>
              <a:rPr lang="fr-FR" dirty="0">
                <a:solidFill>
                  <a:srgbClr val="002060"/>
                </a:solidFill>
              </a:rPr>
              <a:t>-SQL (T-SQL) </a:t>
            </a:r>
          </a:p>
          <a:p>
            <a:pPr algn="l" rtl="0">
              <a:buFont typeface="Wingdings" pitchFamily="2" charset="2"/>
              <a:buChar char="q"/>
            </a:pPr>
            <a:endParaRPr lang="fr-FR" dirty="0">
              <a:solidFill>
                <a:srgbClr val="002060"/>
              </a:solidFill>
            </a:endParaRPr>
          </a:p>
          <a:p>
            <a:pPr algn="l" rtl="0">
              <a:buFont typeface="Wingdings" pitchFamily="2" charset="2"/>
              <a:buChar char="q"/>
            </a:pPr>
            <a:r>
              <a:rPr lang="fr-FR" dirty="0">
                <a:solidFill>
                  <a:srgbClr val="002060"/>
                </a:solidFill>
              </a:rPr>
              <a:t>Introduction au Business Intelligence(BI)</a:t>
            </a:r>
          </a:p>
          <a:p>
            <a:pPr marL="0" indent="0" algn="l" rtl="0">
              <a:buNone/>
            </a:pPr>
            <a:endParaRPr lang="fr-FR" dirty="0">
              <a:solidFill>
                <a:srgbClr val="002060"/>
              </a:solidFill>
            </a:endParaRPr>
          </a:p>
          <a:p>
            <a:pPr algn="l" rtl="0">
              <a:buFont typeface="Wingdings" pitchFamily="2" charset="2"/>
              <a:buChar char="q"/>
            </a:pPr>
            <a:r>
              <a:rPr lang="fr-FR" dirty="0">
                <a:solidFill>
                  <a:srgbClr val="002060"/>
                </a:solidFill>
              </a:rPr>
              <a:t>Modélisation des Datawarehouse</a:t>
            </a:r>
            <a:br>
              <a:rPr lang="fr-FR" sz="3200" b="1" dirty="0">
                <a:solidFill>
                  <a:srgbClr val="00B050"/>
                </a:solidFill>
              </a:rPr>
            </a:br>
            <a:endParaRPr lang="fr-FR" sz="3200" b="1" dirty="0">
              <a:solidFill>
                <a:srgbClr val="00B050"/>
              </a:solidFill>
            </a:endParaRPr>
          </a:p>
          <a:p>
            <a:pPr algn="l" rtl="0">
              <a:buFont typeface="Wingdings" pitchFamily="2" charset="2"/>
              <a:buChar char="q"/>
            </a:pPr>
            <a:r>
              <a:rPr lang="fr-FR" dirty="0">
                <a:solidFill>
                  <a:srgbClr val="002060"/>
                </a:solidFill>
              </a:rPr>
              <a:t> Analyses Multidimensionnelles</a:t>
            </a:r>
          </a:p>
          <a:p>
            <a:pPr algn="l" rtl="0">
              <a:buFont typeface="Wingdings" pitchFamily="2" charset="2"/>
              <a:buChar char="q"/>
            </a:pPr>
            <a:endParaRPr lang="fr-FR" dirty="0">
              <a:solidFill>
                <a:srgbClr val="002060"/>
              </a:solidFill>
            </a:endParaRPr>
          </a:p>
          <a:p>
            <a:pPr algn="l" rtl="0">
              <a:buFont typeface="Wingdings" pitchFamily="2" charset="2"/>
              <a:buChar char="q"/>
            </a:pPr>
            <a:r>
              <a:rPr lang="fr-FR" dirty="0">
                <a:solidFill>
                  <a:srgbClr val="002060"/>
                </a:solidFill>
              </a:rPr>
              <a:t>Elaboration d’un Projet décisionnel</a:t>
            </a:r>
          </a:p>
          <a:p>
            <a:pPr algn="l" rtl="0">
              <a:buFont typeface="Wingdings" pitchFamily="2" charset="2"/>
              <a:buChar char="q"/>
            </a:pPr>
            <a:endParaRPr lang="fr-FR" dirty="0">
              <a:solidFill>
                <a:srgbClr val="002060"/>
              </a:solidFill>
            </a:endParaRPr>
          </a:p>
          <a:p>
            <a:pPr algn="l" rtl="0">
              <a:buFont typeface="Wingdings" pitchFamily="2" charset="2"/>
              <a:buChar char="q"/>
            </a:pPr>
            <a:r>
              <a:rPr lang="fr-FR" dirty="0">
                <a:solidFill>
                  <a:srgbClr val="002060"/>
                </a:solidFill>
              </a:rPr>
              <a:t>Travaux pratiques (SSIS , Talend , …)</a:t>
            </a:r>
          </a:p>
          <a:p>
            <a:pPr algn="l" rtl="0">
              <a:buFont typeface="Wingdings" pitchFamily="2" charset="2"/>
              <a:buChar char="q"/>
            </a:pPr>
            <a:endParaRPr lang="fr-FR" dirty="0">
              <a:solidFill>
                <a:srgbClr val="002060"/>
              </a:solidFill>
            </a:endParaRPr>
          </a:p>
          <a:p>
            <a:pPr marL="0" indent="0" algn="l" rtl="0">
              <a:buNone/>
            </a:pPr>
            <a:endParaRPr lang="ar-MA" dirty="0"/>
          </a:p>
        </p:txBody>
      </p:sp>
    </p:spTree>
    <p:extLst>
      <p:ext uri="{BB962C8B-B14F-4D97-AF65-F5344CB8AC3E}">
        <p14:creationId xmlns:p14="http://schemas.microsoft.com/office/powerpoint/2010/main" val="271428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" y="117374"/>
            <a:ext cx="8321040" cy="1450757"/>
          </a:xfrm>
        </p:spPr>
        <p:txBody>
          <a:bodyPr/>
          <a:lstStyle/>
          <a:p>
            <a:r>
              <a:rPr lang="fr-FR" dirty="0"/>
              <a:t>Rappel sur </a:t>
            </a:r>
            <a:r>
              <a:rPr lang="fr-FR" dirty="0" err="1"/>
              <a:t>le</a:t>
            </a:r>
            <a:r>
              <a:rPr lang="fr-FR" b="1" dirty="0" err="1"/>
              <a:t>Transact</a:t>
            </a:r>
            <a:r>
              <a:rPr lang="fr-FR" b="1" dirty="0"/>
              <a:t>-SQL</a:t>
            </a:r>
            <a:r>
              <a:rPr lang="fr-FR" dirty="0"/>
              <a:t> (T-SQL) </a:t>
            </a:r>
            <a:endParaRPr lang="fr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3</a:t>
            </a:fld>
            <a:endParaRPr lang="fr-CA"/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409065" y="2785841"/>
            <a:ext cx="720000" cy="72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5400" dirty="0"/>
              <a:t>1</a:t>
            </a:r>
          </a:p>
        </p:txBody>
      </p:sp>
      <p:sp>
        <p:nvSpPr>
          <p:cNvPr id="9" name="Rectangle 8"/>
          <p:cNvSpPr/>
          <p:nvPr>
            <p:custDataLst>
              <p:tags r:id="rId4"/>
            </p:custDataLst>
          </p:nvPr>
        </p:nvSpPr>
        <p:spPr>
          <a:xfrm>
            <a:off x="421102" y="3635636"/>
            <a:ext cx="720000" cy="72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5400" dirty="0"/>
              <a:t>2</a:t>
            </a:r>
          </a:p>
        </p:txBody>
      </p:sp>
      <p:sp>
        <p:nvSpPr>
          <p:cNvPr id="10" name="Rectangle 9"/>
          <p:cNvSpPr/>
          <p:nvPr>
            <p:custDataLst>
              <p:tags r:id="rId5"/>
            </p:custDataLst>
          </p:nvPr>
        </p:nvSpPr>
        <p:spPr>
          <a:xfrm>
            <a:off x="433139" y="4490504"/>
            <a:ext cx="720000" cy="72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5400" dirty="0"/>
              <a:t>3</a:t>
            </a:r>
          </a:p>
        </p:txBody>
      </p:sp>
      <p:sp>
        <p:nvSpPr>
          <p:cNvPr id="11" name="Content Placeholder 2"/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380714" y="2831200"/>
            <a:ext cx="7239000" cy="720000"/>
          </a:xfrm>
          <a:prstGeom prst="rect">
            <a:avLst/>
          </a:prstGeom>
        </p:spPr>
        <p:txBody>
          <a:bodyPr vert="horz" lIns="0" tIns="45720" rIns="0" bIns="45720" rtlCol="0">
            <a:normAutofit fontScale="2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fr-FR" sz="9600" b="1" dirty="0" err="1">
                <a:solidFill>
                  <a:srgbClr val="00B050"/>
                </a:solidFill>
              </a:rPr>
              <a:t>Aggregation</a:t>
            </a:r>
            <a:r>
              <a:rPr lang="fr-FR" sz="9600" b="1" dirty="0">
                <a:solidFill>
                  <a:srgbClr val="00B050"/>
                </a:solidFill>
              </a:rPr>
              <a:t> </a:t>
            </a:r>
            <a:r>
              <a:rPr lang="fr-FR" sz="9600" b="1" dirty="0" err="1">
                <a:solidFill>
                  <a:srgbClr val="00B050"/>
                </a:solidFill>
              </a:rPr>
              <a:t>functions</a:t>
            </a:r>
            <a:endParaRPr lang="fr-FR" sz="9600" b="1" dirty="0">
              <a:solidFill>
                <a:srgbClr val="00B05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br>
              <a:rPr lang="fr-FR" sz="2400" dirty="0">
                <a:solidFill>
                  <a:schemeClr val="tx1"/>
                </a:solidFill>
              </a:rPr>
            </a:br>
            <a:endParaRPr lang="fr-CA" sz="2400" dirty="0">
              <a:solidFill>
                <a:schemeClr val="tx1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1165168" y="3864238"/>
            <a:ext cx="7978832" cy="1176996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Filtering (WHERE) and sorting (ORDER BY) of the results</a:t>
            </a:r>
          </a:p>
          <a:p>
            <a:br>
              <a:rPr lang="en-US" dirty="0"/>
            </a:br>
            <a:endParaRPr lang="fr-CA" sz="2400" dirty="0">
              <a:solidFill>
                <a:schemeClr val="tx1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1380714" y="4580814"/>
            <a:ext cx="6598118" cy="720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b="1" dirty="0" err="1">
                <a:solidFill>
                  <a:srgbClr val="00B050"/>
                </a:solidFill>
              </a:rPr>
              <a:t>Views</a:t>
            </a:r>
            <a:endParaRPr lang="fr-FR" sz="24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fr-CA" sz="24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>
            <p:custDataLst>
              <p:tags r:id="rId9"/>
            </p:custDataLst>
          </p:nvPr>
        </p:nvSpPr>
        <p:spPr>
          <a:xfrm>
            <a:off x="445168" y="5340299"/>
            <a:ext cx="720000" cy="72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5400" dirty="0"/>
              <a:t>4</a:t>
            </a:r>
          </a:p>
        </p:txBody>
      </p:sp>
      <p:sp>
        <p:nvSpPr>
          <p:cNvPr id="15" name="Content Placeholder 2"/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1341120" y="5340299"/>
            <a:ext cx="6461760" cy="720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400" b="1" dirty="0">
                <a:solidFill>
                  <a:srgbClr val="FF0000"/>
                </a:solidFill>
              </a:rPr>
              <a:t>Fonctions prédéfinies</a:t>
            </a:r>
          </a:p>
        </p:txBody>
      </p:sp>
    </p:spTree>
    <p:extLst>
      <p:ext uri="{BB962C8B-B14F-4D97-AF65-F5344CB8AC3E}">
        <p14:creationId xmlns:p14="http://schemas.microsoft.com/office/powerpoint/2010/main" val="162978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0" y="286605"/>
            <a:ext cx="7543800" cy="736080"/>
          </a:xfrm>
        </p:spPr>
        <p:txBody>
          <a:bodyPr/>
          <a:lstStyle/>
          <a:p>
            <a:r>
              <a:rPr lang="fr-CA" b="1" dirty="0">
                <a:solidFill>
                  <a:srgbClr val="00B050"/>
                </a:solidFill>
              </a:rPr>
              <a:t>Microsoft SQL Server (T-SQL)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4</a:t>
            </a:fld>
            <a:endParaRPr lang="fr-CA" dirty="0"/>
          </a:p>
        </p:txBody>
      </p:sp>
      <p:sp>
        <p:nvSpPr>
          <p:cNvPr id="7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0" y="1425157"/>
            <a:ext cx="8746958" cy="44314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000">
              <a:buFont typeface="Arial" panose="020B0604020202020204" pitchFamily="34" charset="0"/>
              <a:buChar char="•"/>
            </a:pPr>
            <a:r>
              <a:rPr lang="fr-CA" sz="2400" b="1" dirty="0">
                <a:solidFill>
                  <a:schemeClr val="tx1"/>
                </a:solidFill>
              </a:rPr>
              <a:t>Le langage SQL utilisé dans Microsoft SQL Server (T-SQL)</a:t>
            </a:r>
          </a:p>
          <a:p>
            <a:pPr lvl="2" indent="-3420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fr-CA" sz="2400" dirty="0">
                <a:solidFill>
                  <a:schemeClr val="tx1"/>
                </a:solidFill>
              </a:rPr>
              <a:t>La création et gestion d’un modèle physique (DDL) en utilisant les instructions </a:t>
            </a:r>
            <a:r>
              <a:rPr lang="fr-CA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fr-CA" sz="2400" b="1" dirty="0">
                <a:solidFill>
                  <a:srgbClr val="0070C0"/>
                </a:solidFill>
              </a:rPr>
              <a:t>, </a:t>
            </a:r>
            <a:r>
              <a:rPr lang="fr-CA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</a:t>
            </a:r>
            <a:r>
              <a:rPr lang="fr-CA" sz="2400" b="1" dirty="0">
                <a:solidFill>
                  <a:srgbClr val="0070C0"/>
                </a:solidFill>
              </a:rPr>
              <a:t>, </a:t>
            </a:r>
            <a:r>
              <a:rPr lang="fr-CA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</a:t>
            </a:r>
          </a:p>
          <a:p>
            <a:pPr lvl="2" indent="-3420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fr-CA" sz="2400" dirty="0">
                <a:solidFill>
                  <a:schemeClr val="tx1"/>
                </a:solidFill>
              </a:rPr>
              <a:t>La manipulation de ce modèle afin de consulter ou mettre à jour des données (</a:t>
            </a:r>
            <a:r>
              <a:rPr lang="fr-CA" sz="2400" b="1" dirty="0">
                <a:solidFill>
                  <a:srgbClr val="FF0000"/>
                </a:solidFill>
              </a:rPr>
              <a:t>DML</a:t>
            </a:r>
            <a:r>
              <a:rPr lang="fr-CA" sz="2400" dirty="0">
                <a:solidFill>
                  <a:schemeClr val="tx1"/>
                </a:solidFill>
              </a:rPr>
              <a:t>) en utilisant pour lire (</a:t>
            </a: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fr-CA" sz="2400" dirty="0">
                <a:solidFill>
                  <a:schemeClr val="tx1"/>
                </a:solidFill>
              </a:rPr>
              <a:t>), créer (</a:t>
            </a: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fr-CA" sz="2400" dirty="0">
                <a:solidFill>
                  <a:schemeClr val="tx1"/>
                </a:solidFill>
              </a:rPr>
              <a:t>), mettre à jour (</a:t>
            </a: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fr-CA" sz="2400" dirty="0">
                <a:solidFill>
                  <a:schemeClr val="tx1"/>
                </a:solidFill>
              </a:rPr>
              <a:t>), supprimer (</a:t>
            </a: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fr-CA" sz="2400" dirty="0">
                <a:solidFill>
                  <a:schemeClr val="tx1"/>
                </a:solidFill>
              </a:rPr>
              <a:t>)</a:t>
            </a:r>
          </a:p>
          <a:p>
            <a:pPr lvl="2" indent="-3420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lang="fr-CA" sz="2400" dirty="0">
                <a:solidFill>
                  <a:schemeClr val="tx1"/>
                </a:solidFill>
              </a:rPr>
              <a:t>Les jointures, notamment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 JOIN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 JOIN </a:t>
            </a:r>
            <a:r>
              <a:rPr lang="en-US" sz="2400" dirty="0">
                <a:solidFill>
                  <a:schemeClr val="tx1"/>
                </a:solidFill>
              </a:rPr>
              <a:t>et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 JOIN</a:t>
            </a:r>
            <a:r>
              <a:rPr lang="en-US" sz="2400" dirty="0">
                <a:solidFill>
                  <a:schemeClr val="tx1"/>
                </a:solidFill>
              </a:rPr>
              <a:t>,</a:t>
            </a:r>
            <a:r>
              <a:rPr lang="fr-CA" sz="2400" dirty="0">
                <a:solidFill>
                  <a:schemeClr val="tx1"/>
                </a:solidFill>
              </a:rPr>
              <a:t> pour chercher les données à travers plusieurs tables</a:t>
            </a:r>
          </a:p>
        </p:txBody>
      </p:sp>
    </p:spTree>
    <p:extLst>
      <p:ext uri="{BB962C8B-B14F-4D97-AF65-F5344CB8AC3E}">
        <p14:creationId xmlns:p14="http://schemas.microsoft.com/office/powerpoint/2010/main" val="4168764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DC85FE-CBF8-5F5F-9F7E-ECCC4C03B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621" y="505350"/>
            <a:ext cx="7543800" cy="627796"/>
          </a:xfrm>
        </p:spPr>
        <p:txBody>
          <a:bodyPr>
            <a:noAutofit/>
          </a:bodyPr>
          <a:lstStyle/>
          <a:p>
            <a:pPr algn="ctr"/>
            <a:r>
              <a:rPr lang="fr-FR" sz="3600" b="1" dirty="0">
                <a:solidFill>
                  <a:srgbClr val="00B050"/>
                </a:solidFill>
              </a:rPr>
              <a:t>BD </a:t>
            </a:r>
            <a:r>
              <a:rPr lang="fr-CA" sz="3600" b="1" dirty="0" err="1">
                <a:solidFill>
                  <a:srgbClr val="00B050"/>
                </a:solidFill>
              </a:rPr>
              <a:t>AdventureWorks</a:t>
            </a:r>
            <a:r>
              <a:rPr lang="fr-CA" sz="3600" b="1" dirty="0">
                <a:solidFill>
                  <a:srgbClr val="00B050"/>
                </a:solidFill>
              </a:rPr>
              <a:t>:  </a:t>
            </a:r>
            <a:r>
              <a:rPr lang="fr-FR" sz="3600" b="1" dirty="0">
                <a:solidFill>
                  <a:srgbClr val="00B050"/>
                </a:solidFill>
              </a:rPr>
              <a:t>Jointure (tables) 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319F9C7-E24B-6121-DA25-70BE132E9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pPr/>
              <a:t>5</a:t>
            </a:fld>
            <a:endParaRPr lang="fr-CA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FA6067F-254C-7AE4-A528-7A10BFB79D97}"/>
              </a:ext>
            </a:extLst>
          </p:cNvPr>
          <p:cNvSpPr txBox="1"/>
          <p:nvPr/>
        </p:nvSpPr>
        <p:spPr>
          <a:xfrm>
            <a:off x="998621" y="1133146"/>
            <a:ext cx="568191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 err="1">
                <a:solidFill>
                  <a:srgbClr val="002060"/>
                </a:solidFill>
              </a:rPr>
              <a:t>Person.Person</a:t>
            </a:r>
            <a:endParaRPr lang="fr-FR" sz="3200" dirty="0">
              <a:solidFill>
                <a:srgbClr val="002060"/>
              </a:solidFill>
            </a:endParaRPr>
          </a:p>
          <a:p>
            <a:r>
              <a:rPr lang="fr-FR" sz="3200" dirty="0"/>
              <a:t>      ↑</a:t>
            </a:r>
          </a:p>
          <a:p>
            <a:r>
              <a:rPr lang="fr-FR" sz="3200" dirty="0" err="1">
                <a:solidFill>
                  <a:srgbClr val="002060"/>
                </a:solidFill>
              </a:rPr>
              <a:t>Sales.SalesPerson</a:t>
            </a:r>
            <a:endParaRPr lang="fr-FR" sz="3200" dirty="0">
              <a:solidFill>
                <a:srgbClr val="002060"/>
              </a:solidFill>
            </a:endParaRPr>
          </a:p>
          <a:p>
            <a:r>
              <a:rPr lang="fr-FR" sz="3200" dirty="0"/>
              <a:t>      ↑</a:t>
            </a:r>
          </a:p>
          <a:p>
            <a:r>
              <a:rPr lang="fr-FR" sz="3200" dirty="0" err="1">
                <a:solidFill>
                  <a:srgbClr val="002060"/>
                </a:solidFill>
              </a:rPr>
              <a:t>Sales.SalesOrderHeader</a:t>
            </a:r>
            <a:endParaRPr lang="fr-FR" sz="3200" dirty="0">
              <a:solidFill>
                <a:srgbClr val="002060"/>
              </a:solidFill>
            </a:endParaRPr>
          </a:p>
          <a:p>
            <a:r>
              <a:rPr lang="fr-FR" sz="3200" dirty="0"/>
              <a:t>      ↑</a:t>
            </a:r>
          </a:p>
          <a:p>
            <a:r>
              <a:rPr lang="fr-FR" sz="3200" dirty="0" err="1">
                <a:solidFill>
                  <a:srgbClr val="002060"/>
                </a:solidFill>
              </a:rPr>
              <a:t>Sales.SalesOrderDetail</a:t>
            </a:r>
            <a:endParaRPr lang="fr-FR" sz="3200" dirty="0">
              <a:solidFill>
                <a:srgbClr val="002060"/>
              </a:solidFill>
            </a:endParaRPr>
          </a:p>
          <a:p>
            <a:r>
              <a:rPr lang="fr-FR" sz="3200" dirty="0"/>
              <a:t>      ↑</a:t>
            </a:r>
          </a:p>
          <a:p>
            <a:r>
              <a:rPr lang="fr-FR" sz="3200" dirty="0" err="1">
                <a:solidFill>
                  <a:srgbClr val="002060"/>
                </a:solidFill>
              </a:rPr>
              <a:t>Production.Product</a:t>
            </a:r>
            <a:endParaRPr lang="fr-FR" sz="3200" dirty="0">
              <a:solidFill>
                <a:srgbClr val="002060"/>
              </a:solidFill>
            </a:endParaRPr>
          </a:p>
          <a:p>
            <a:r>
              <a:rPr lang="fr-FR" sz="3200" dirty="0"/>
              <a:t>      ↑</a:t>
            </a:r>
          </a:p>
          <a:p>
            <a:r>
              <a:rPr lang="fr-FR" sz="3200" dirty="0" err="1">
                <a:solidFill>
                  <a:srgbClr val="002060"/>
                </a:solidFill>
              </a:rPr>
              <a:t>Production.ProductSubcategory</a:t>
            </a:r>
            <a:endParaRPr lang="fr-FR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161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00100" y="0"/>
            <a:ext cx="7543800" cy="601579"/>
          </a:xfrm>
        </p:spPr>
        <p:txBody>
          <a:bodyPr>
            <a:normAutofit fontScale="90000"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Grouper des résultats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6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0" y="601579"/>
            <a:ext cx="9144000" cy="625642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000" algn="just">
              <a:buFont typeface="Arial" panose="020B0604020202020204" pitchFamily="34" charset="0"/>
              <a:buChar char="•"/>
            </a:pPr>
            <a:r>
              <a:rPr lang="fr-CA" sz="2400" dirty="0">
                <a:solidFill>
                  <a:schemeClr val="tx1"/>
                </a:solidFill>
              </a:rPr>
              <a:t>L’une des fonctionnalités les plus utilisées dans les bases de données, tableurs (Excel) et autres logiciels est la possibilité de </a:t>
            </a:r>
            <a:r>
              <a:rPr lang="fr-CA" sz="2400" b="1" dirty="0">
                <a:solidFill>
                  <a:srgbClr val="0070C0"/>
                </a:solidFill>
              </a:rPr>
              <a:t>faire des opérations arithmétiques simples et complexes sur les données disponibles</a:t>
            </a:r>
          </a:p>
          <a:p>
            <a:pPr indent="-342000" algn="just">
              <a:buFont typeface="Arial" panose="020B0604020202020204" pitchFamily="34" charset="0"/>
              <a:buChar char="•"/>
            </a:pPr>
            <a:r>
              <a:rPr lang="fr-CA" sz="2400" dirty="0">
                <a:solidFill>
                  <a:schemeClr val="tx1"/>
                </a:solidFill>
              </a:rPr>
              <a:t>Ceci est d’autant plus vrai lorsque l’on traite </a:t>
            </a:r>
            <a:r>
              <a:rPr lang="fr-CA" sz="2400" dirty="0">
                <a:solidFill>
                  <a:srgbClr val="FF0000"/>
                </a:solidFill>
              </a:rPr>
              <a:t>des gros volumes de données</a:t>
            </a:r>
          </a:p>
          <a:p>
            <a:pPr indent="-342000" algn="just">
              <a:buFont typeface="Arial" panose="020B0604020202020204" pitchFamily="34" charset="0"/>
              <a:buChar char="•"/>
            </a:pPr>
            <a:r>
              <a:rPr lang="fr-CA" sz="2400" dirty="0">
                <a:solidFill>
                  <a:schemeClr val="tx1"/>
                </a:solidFill>
              </a:rPr>
              <a:t>Le T-SQL inclut un certain nombre de ces opérations</a:t>
            </a:r>
          </a:p>
          <a:p>
            <a:r>
              <a:rPr lang="en-US" sz="2400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 description de la table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Sales.SalesOrderHeader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’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2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EXEC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sp_help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Sales.SalesOrderHeader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COLUMN_NAME</a:t>
            </a:r>
            <a:r>
              <a:rPr lang="fr-FR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DATA_TYPE</a:t>
            </a:r>
            <a:r>
              <a:rPr lang="fr-FR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 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CHARACTER_MAXIMUM_LENGTH</a:t>
            </a:r>
            <a:r>
              <a:rPr lang="fr-FR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IS_NULLABLE</a:t>
            </a:r>
          </a:p>
          <a:p>
            <a:r>
              <a:rPr lang="fr-F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00FF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INFORMATION_SCHEMA</a:t>
            </a:r>
            <a:r>
              <a:rPr lang="fr-FR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sz="2400" dirty="0">
                <a:solidFill>
                  <a:srgbClr val="00FF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COLUMNS</a:t>
            </a:r>
            <a:endParaRPr lang="fr-F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WHERE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TABLE_SCHEMA </a:t>
            </a:r>
            <a:r>
              <a:rPr lang="fr-FR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'Sales’ </a:t>
            </a:r>
            <a:r>
              <a:rPr lang="fr-FR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AND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TABLE_NAME</a:t>
            </a:r>
            <a:r>
              <a:rPr lang="fr-FR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fr-FR" sz="24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SalesOrderHeader</a:t>
            </a:r>
            <a:r>
              <a:rPr lang="fr-FR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fr-FR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fr-CA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512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00100" y="33092"/>
            <a:ext cx="7543800" cy="748962"/>
          </a:xfrm>
        </p:spPr>
        <p:txBody>
          <a:bodyPr>
            <a:norm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Grouper des résultats (suite)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7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0" y="938463"/>
            <a:ext cx="9144000" cy="588644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000">
              <a:buFont typeface="Arial" panose="020B0604020202020204" pitchFamily="34" charset="0"/>
              <a:buChar char="•"/>
            </a:pPr>
            <a:r>
              <a:rPr lang="fr-CA" sz="2400" b="1" dirty="0">
                <a:solidFill>
                  <a:schemeClr val="tx1"/>
                </a:solidFill>
              </a:rPr>
              <a:t>Reprenons l’exemple suivant: </a:t>
            </a:r>
            <a:r>
              <a:rPr lang="fr-CA" sz="2400" b="1" dirty="0">
                <a:solidFill>
                  <a:srgbClr val="00B050"/>
                </a:solidFill>
              </a:rPr>
              <a:t>Trouvez la somme des ventes pour toutes les commandes faites en 2025</a:t>
            </a:r>
          </a:p>
          <a:p>
            <a:pPr indent="-342000">
              <a:buFont typeface="Arial" panose="020B0604020202020204" pitchFamily="34" charset="0"/>
              <a:buChar char="•"/>
            </a:pPr>
            <a:r>
              <a:rPr lang="fr-CA" sz="2400" b="1" dirty="0">
                <a:solidFill>
                  <a:schemeClr val="tx1"/>
                </a:solidFill>
              </a:rPr>
              <a:t>Ici, on veut donc une seule valeur numérique…</a:t>
            </a:r>
          </a:p>
          <a:p>
            <a:pPr indent="-3420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EXEC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sp_help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20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Sales.SalesOrderHeader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’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indent="-342000">
              <a:buFont typeface="Arial" panose="020B0604020202020204" pitchFamily="34" charset="0"/>
              <a:buChar char="•"/>
            </a:pPr>
            <a:endParaRPr lang="fr-CA" dirty="0">
              <a:solidFill>
                <a:schemeClr val="tx1"/>
              </a:solidFill>
            </a:endParaRPr>
          </a:p>
          <a:p>
            <a:pPr marL="292608" lvl="1" indent="0">
              <a:buNone/>
            </a:pP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all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sz="2400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cap="all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TotalDue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292608" lvl="1" indent="0">
              <a:buNone/>
            </a:pP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en-US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SalesOrderHeader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2400" b="1" cap="all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all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DATEPART</a:t>
            </a:r>
            <a:r>
              <a:rPr lang="en-US" sz="2400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cap="all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OrderDate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2025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92608" lvl="1" indent="0">
              <a:buNone/>
            </a:pP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----------------------------------------------------------------</a:t>
            </a: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sum</a:t>
            </a:r>
            <a:r>
              <a:rPr lang="en-US" sz="2400" b="1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TotalDue</a:t>
            </a:r>
            <a:r>
              <a:rPr lang="en-US" sz="2400" b="1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DATEPART</a:t>
            </a:r>
            <a:r>
              <a:rPr lang="en-US" sz="2400" b="1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YEAR</a:t>
            </a:r>
            <a:r>
              <a:rPr lang="en-US" sz="2400" b="1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OrderDate</a:t>
            </a:r>
            <a:r>
              <a:rPr lang="en-US" sz="2400" b="1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fr-FR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</a:t>
            </a:r>
            <a:r>
              <a:rPr lang="fr-FR" sz="2400" b="1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FR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SalesOrderHeader</a:t>
            </a:r>
            <a:endParaRPr lang="fr-FR" sz="2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group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DATEPART</a:t>
            </a:r>
            <a:r>
              <a:rPr lang="en-US" sz="2400" b="1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YEAR</a:t>
            </a:r>
            <a:r>
              <a:rPr lang="en-US" sz="2400" b="1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OrderDate</a:t>
            </a:r>
            <a:r>
              <a:rPr lang="en-US" sz="2400" b="1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rgbClr val="808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281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0" y="286604"/>
            <a:ext cx="7543800" cy="820301"/>
          </a:xfrm>
        </p:spPr>
        <p:txBody>
          <a:bodyPr>
            <a:norm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Fonctions d’agrégation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8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4221" y="1846263"/>
            <a:ext cx="8282539" cy="44314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indent="-342000">
              <a:buFont typeface="Symbol" panose="05050102010706020507" pitchFamily="18" charset="2"/>
              <a:buChar char="-"/>
            </a:pPr>
            <a:r>
              <a:rPr lang="fr-CA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fr-CA" sz="2400" b="1" dirty="0">
                <a:solidFill>
                  <a:srgbClr val="0070C0"/>
                </a:solidFill>
              </a:rPr>
              <a:t> (moyenne)</a:t>
            </a:r>
          </a:p>
          <a:p>
            <a:pPr lvl="2" indent="-342000">
              <a:buFont typeface="Symbol" panose="05050102010706020507" pitchFamily="18" charset="2"/>
              <a:buChar char="-"/>
            </a:pPr>
            <a:r>
              <a:rPr lang="fr-CA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CA" sz="2400" b="1" dirty="0">
                <a:solidFill>
                  <a:srgbClr val="0070C0"/>
                </a:solidFill>
              </a:rPr>
              <a:t> (somme)</a:t>
            </a:r>
          </a:p>
          <a:p>
            <a:pPr lvl="2" indent="-342000">
              <a:buFont typeface="Symbol" panose="05050102010706020507" pitchFamily="18" charset="2"/>
              <a:buChar char="-"/>
            </a:pPr>
            <a:r>
              <a:rPr lang="fr-CA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fr-CA" sz="2400" b="1" dirty="0">
                <a:solidFill>
                  <a:srgbClr val="0070C0"/>
                </a:solidFill>
              </a:rPr>
              <a:t> (décompte)</a:t>
            </a:r>
          </a:p>
          <a:p>
            <a:pPr lvl="2" indent="-342000">
              <a:buFont typeface="Symbol" panose="05050102010706020507" pitchFamily="18" charset="2"/>
              <a:buChar char="-"/>
            </a:pPr>
            <a:r>
              <a:rPr lang="fr-CA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fr-CA" sz="2400" b="1" dirty="0">
                <a:solidFill>
                  <a:srgbClr val="0070C0"/>
                </a:solidFill>
              </a:rPr>
              <a:t>, </a:t>
            </a:r>
            <a:r>
              <a:rPr lang="fr-CA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fr-CA" sz="2400" b="1" dirty="0">
                <a:solidFill>
                  <a:srgbClr val="0070C0"/>
                </a:solidFill>
              </a:rPr>
              <a:t> (minimum, maximum)</a:t>
            </a:r>
          </a:p>
        </p:txBody>
      </p:sp>
    </p:spTree>
    <p:extLst>
      <p:ext uri="{BB962C8B-B14F-4D97-AF65-F5344CB8AC3E}">
        <p14:creationId xmlns:p14="http://schemas.microsoft.com/office/powerpoint/2010/main" val="1593074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0" y="286604"/>
            <a:ext cx="7543800" cy="650575"/>
          </a:xfrm>
        </p:spPr>
        <p:txBody>
          <a:bodyPr>
            <a:normAutofit fontScale="90000"/>
          </a:bodyPr>
          <a:lstStyle/>
          <a:p>
            <a:r>
              <a:rPr lang="fr-CA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fr-CA" b="1" dirty="0">
                <a:solidFill>
                  <a:srgbClr val="00B050"/>
                </a:solidFill>
              </a:rPr>
              <a:t>, </a:t>
            </a:r>
            <a:r>
              <a:rPr lang="fr-CA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CA" b="1" dirty="0">
                <a:solidFill>
                  <a:srgbClr val="00B050"/>
                </a:solidFill>
              </a:rPr>
              <a:t>, </a:t>
            </a:r>
            <a:r>
              <a:rPr lang="fr-CA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9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27780" y="1143001"/>
            <a:ext cx="8888440" cy="513470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000">
              <a:buFont typeface="Arial" panose="020B0604020202020204" pitchFamily="34" charset="0"/>
              <a:buChar char="•"/>
            </a:pP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fr-CA" sz="2400" b="1" dirty="0">
                <a:solidFill>
                  <a:srgbClr val="FF0000"/>
                </a:solidFill>
              </a:rPr>
              <a:t>: Calcul de la moyenne d’un ensemble</a:t>
            </a:r>
          </a:p>
          <a:p>
            <a:pPr marL="0" indent="0">
              <a:buNone/>
            </a:pPr>
            <a:r>
              <a:rPr lang="fr-CA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fr-CA" sz="2400" b="1" cap="all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SalesYTD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SalesPerson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indent="-342000">
              <a:buFont typeface="Arial" panose="020B0604020202020204" pitchFamily="34" charset="0"/>
              <a:buChar char="•"/>
            </a:pPr>
            <a:endParaRPr lang="fr-CA" sz="2400" b="1" dirty="0">
              <a:solidFill>
                <a:schemeClr val="tx1"/>
              </a:solidFill>
            </a:endParaRPr>
          </a:p>
          <a:p>
            <a:pPr indent="-342000">
              <a:buFont typeface="Arial" panose="020B0604020202020204" pitchFamily="34" charset="0"/>
              <a:buChar char="•"/>
            </a:pP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CA" sz="2400" b="1" dirty="0">
                <a:solidFill>
                  <a:srgbClr val="FF0000"/>
                </a:solidFill>
              </a:rPr>
              <a:t>: Calcul de la somme d’un ensemble</a:t>
            </a:r>
          </a:p>
          <a:p>
            <a:pPr marL="0" indent="0">
              <a:buNone/>
            </a:pPr>
            <a:r>
              <a:rPr lang="fr-CA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fr-CA" sz="2400" b="1" cap="all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SalesYTD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SalesPerson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indent="-342000">
              <a:buFont typeface="Arial" panose="020B0604020202020204" pitchFamily="34" charset="0"/>
              <a:buChar char="•"/>
            </a:pPr>
            <a:endParaRPr lang="fr-CA" sz="2400" b="1" dirty="0">
              <a:solidFill>
                <a:schemeClr val="tx1"/>
              </a:solidFill>
            </a:endParaRPr>
          </a:p>
          <a:p>
            <a:pPr indent="-342000">
              <a:buFont typeface="Arial" panose="020B0604020202020204" pitchFamily="34" charset="0"/>
              <a:buChar char="•"/>
            </a:pP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fr-CA" sz="2400" b="1" dirty="0">
                <a:solidFill>
                  <a:srgbClr val="FF0000"/>
                </a:solidFill>
              </a:rPr>
              <a:t>: décompte du nombre d’items dans l’ensemble</a:t>
            </a:r>
          </a:p>
          <a:p>
            <a:pPr marL="0" indent="0">
              <a:buNone/>
            </a:pPr>
            <a:r>
              <a:rPr lang="fr-CA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cap="all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COUNT(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BusinessEntityID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SalesPerson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81263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0" y="286605"/>
            <a:ext cx="7543800" cy="687954"/>
          </a:xfrm>
        </p:spPr>
        <p:txBody>
          <a:bodyPr>
            <a:normAutofit fontScale="90000"/>
          </a:bodyPr>
          <a:lstStyle/>
          <a:p>
            <a:r>
              <a:rPr lang="fr-CA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fr-CA" b="1" dirty="0">
                <a:solidFill>
                  <a:srgbClr val="00B050"/>
                </a:solidFill>
              </a:rPr>
              <a:t>, </a:t>
            </a:r>
            <a:r>
              <a:rPr lang="fr-CA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10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411478" y="2028339"/>
            <a:ext cx="8366760" cy="44314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000">
              <a:buFont typeface="Arial" panose="020B0604020202020204" pitchFamily="34" charset="0"/>
              <a:buChar char="•"/>
            </a:pP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fr-CA" sz="2400" b="1" dirty="0">
                <a:solidFill>
                  <a:srgbClr val="FF0000"/>
                </a:solidFill>
              </a:rPr>
              <a:t>: Valeur minimum</a:t>
            </a:r>
          </a:p>
          <a:p>
            <a:pPr marL="0" indent="0">
              <a:buNone/>
            </a:pPr>
            <a:r>
              <a:rPr lang="fr-CA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cap="all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SalesYTD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SalesPerson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indent="-342000">
              <a:buFont typeface="Arial" panose="020B0604020202020204" pitchFamily="34" charset="0"/>
              <a:buChar char="•"/>
            </a:pPr>
            <a:endParaRPr lang="fr-CA" sz="2400" b="1" dirty="0">
              <a:solidFill>
                <a:schemeClr val="tx1"/>
              </a:solidFill>
            </a:endParaRPr>
          </a:p>
          <a:p>
            <a:pPr indent="-342000">
              <a:buFont typeface="Arial" panose="020B0604020202020204" pitchFamily="34" charset="0"/>
              <a:buChar char="•"/>
            </a:pP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fr-CA" sz="2400" b="1" dirty="0">
                <a:solidFill>
                  <a:srgbClr val="FF0000"/>
                </a:solidFill>
              </a:rPr>
              <a:t>: Valeur maximum</a:t>
            </a:r>
          </a:p>
          <a:p>
            <a:pPr marL="0" indent="0">
              <a:buNone/>
            </a:pPr>
            <a:r>
              <a:rPr lang="fr-CA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cap="all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SalesYTD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SalesPerson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15203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0" y="286604"/>
            <a:ext cx="7543800" cy="651859"/>
          </a:xfrm>
        </p:spPr>
        <p:txBody>
          <a:bodyPr>
            <a:normAutofit fontScale="90000"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Fonctions d’agrégation (suite)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11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28599" y="1167063"/>
            <a:ext cx="8758989" cy="56909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000">
              <a:buFont typeface="Arial" panose="020B0604020202020204" pitchFamily="34" charset="0"/>
              <a:buChar char="•"/>
            </a:pPr>
            <a:r>
              <a:rPr lang="fr-CA" sz="2400" dirty="0">
                <a:solidFill>
                  <a:schemeClr val="tx1"/>
                </a:solidFill>
              </a:rPr>
              <a:t>On peut également utiliser ces fonctions dans des critères de restriction</a:t>
            </a:r>
          </a:p>
          <a:p>
            <a:pPr lvl="2" indent="-342000">
              <a:buFont typeface="Symbol" panose="05050102010706020507" pitchFamily="18" charset="2"/>
              <a:buChar char="-"/>
            </a:pPr>
            <a:r>
              <a:rPr lang="fr-CA" sz="2400" dirty="0">
                <a:solidFill>
                  <a:srgbClr val="FF0000"/>
                </a:solidFill>
              </a:rPr>
              <a:t>Trouvez le prénom et le nom de famille du vendeur qui a réalisé le plus de ventes pour l’année en cours</a:t>
            </a:r>
          </a:p>
          <a:p>
            <a:pPr marL="0" indent="0">
              <a:buNone/>
            </a:pPr>
            <a:r>
              <a:rPr lang="fr-CA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SalesYTD</a:t>
            </a:r>
            <a:endParaRPr lang="fr-CA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fr-CA" sz="2400" b="1" cap="all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24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SalesPerson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</a:t>
            </a:r>
          </a:p>
          <a:p>
            <a:pPr marL="0" indent="0">
              <a:buNone/>
            </a:pPr>
            <a:r>
              <a:rPr lang="fr-CA" sz="2400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 </a:t>
            </a:r>
            <a:r>
              <a:rPr lang="fr-CA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BusinessEntityID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BusinessEntityID</a:t>
            </a:r>
            <a:endParaRPr lang="fr-CA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b="1" cap="all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SalesYTD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1" cap="all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all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SalesYTD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en-US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SalesPerson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31991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0" y="286604"/>
            <a:ext cx="7543800" cy="495449"/>
          </a:xfrm>
        </p:spPr>
        <p:txBody>
          <a:bodyPr>
            <a:normAutofit fontScale="90000"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Fonctions d’agrégation (suite)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12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40631" y="1070811"/>
            <a:ext cx="8758989" cy="578718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000">
              <a:buFont typeface="Arial" panose="020B0604020202020204" pitchFamily="34" charset="0"/>
              <a:buChar char="•"/>
            </a:pPr>
            <a:r>
              <a:rPr lang="fr-CA" sz="3200" dirty="0">
                <a:solidFill>
                  <a:schemeClr val="tx1"/>
                </a:solidFill>
              </a:rPr>
              <a:t>Trouver le prénom et le nom de famille des vendeurs qui ont réalisé plus de ventes pour l’année en cours que la moyenne des tous les vendeurs</a:t>
            </a:r>
          </a:p>
          <a:p>
            <a:pPr marL="0" indent="0">
              <a:buNone/>
            </a:pPr>
            <a:endParaRPr lang="fr-CA" sz="2800" cap="all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28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fr-CA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fr-CA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SalesYTD</a:t>
            </a:r>
            <a:endParaRPr lang="fr-CA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28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SalesPerson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</a:t>
            </a:r>
          </a:p>
          <a:p>
            <a:pPr marL="0" indent="0">
              <a:buNone/>
            </a:pPr>
            <a:r>
              <a:rPr lang="fr-CA" sz="2800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 </a:t>
            </a:r>
            <a:r>
              <a:rPr lang="fr-CA" sz="28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BusinessEntityID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BusinessEntityID</a:t>
            </a:r>
            <a:endParaRPr lang="fr-CA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SalesYTD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SalesYTD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en-US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SalesPerson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99823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0" y="286604"/>
            <a:ext cx="7543800" cy="561877"/>
          </a:xfrm>
        </p:spPr>
        <p:txBody>
          <a:bodyPr>
            <a:normAutofit fontScale="90000"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Grouper des résultats (suite)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13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348916" y="1118937"/>
            <a:ext cx="8554452" cy="515877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000">
              <a:buFont typeface="Arial" panose="020B0604020202020204" pitchFamily="34" charset="0"/>
              <a:buChar char="•"/>
            </a:pPr>
            <a:r>
              <a:rPr lang="fr-CA" sz="2400" b="1" dirty="0">
                <a:solidFill>
                  <a:schemeClr val="tx1"/>
                </a:solidFill>
              </a:rPr>
              <a:t>L’analyse des données devienne encore plus intéressante lorsqu’on veut une requête qui donne, par exemple, une somme des ventes pour chaque année </a:t>
            </a:r>
            <a:r>
              <a:rPr lang="fr-CA" sz="2400" b="1" dirty="0">
                <a:solidFill>
                  <a:srgbClr val="00B050"/>
                </a:solidFill>
              </a:rPr>
              <a:t>(c.-à-d., 2023, 2024, 2025)</a:t>
            </a:r>
            <a:r>
              <a:rPr lang="fr-CA" sz="2400" b="1" dirty="0">
                <a:solidFill>
                  <a:schemeClr val="tx1"/>
                </a:solidFill>
              </a:rPr>
              <a:t>, ou par produit, etc. comme nous le verrons par la suite</a:t>
            </a:r>
          </a:p>
        </p:txBody>
      </p:sp>
      <p:sp>
        <p:nvSpPr>
          <p:cNvPr id="9" name="Rectangle 3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619056" y="2806033"/>
            <a:ext cx="7747704" cy="2771775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  <a:tabLst>
                <a:tab pos="1617663" algn="l"/>
              </a:tabLst>
              <a:defRPr/>
            </a:pPr>
            <a:r>
              <a:rPr lang="fr-CA" sz="2400" b="1" dirty="0">
                <a:solidFill>
                  <a:schemeClr val="tx1"/>
                </a:solidFill>
              </a:rPr>
              <a:t>SELECT</a:t>
            </a:r>
            <a:r>
              <a:rPr lang="fr-CA" sz="2400" dirty="0">
                <a:solidFill>
                  <a:schemeClr val="tx1"/>
                </a:solidFill>
              </a:rPr>
              <a:t>	&lt;liste d’expressions&gt;</a:t>
            </a:r>
          </a:p>
          <a:p>
            <a:pPr>
              <a:buFont typeface="Wingdings" pitchFamily="2" charset="2"/>
              <a:buNone/>
              <a:tabLst>
                <a:tab pos="1617663" algn="l"/>
              </a:tabLst>
              <a:defRPr/>
            </a:pPr>
            <a:r>
              <a:rPr lang="fr-CA" sz="2400" b="1" dirty="0">
                <a:solidFill>
                  <a:schemeClr val="tx1"/>
                </a:solidFill>
              </a:rPr>
              <a:t>FROM</a:t>
            </a:r>
            <a:r>
              <a:rPr lang="fr-CA" sz="2400" dirty="0">
                <a:solidFill>
                  <a:schemeClr val="tx1"/>
                </a:solidFill>
              </a:rPr>
              <a:t> 	&lt;liste des tables touchées par la question&gt;</a:t>
            </a:r>
          </a:p>
          <a:p>
            <a:pPr>
              <a:buFont typeface="Wingdings" pitchFamily="2" charset="2"/>
              <a:buNone/>
              <a:tabLst>
                <a:tab pos="1617663" algn="l"/>
              </a:tabLst>
              <a:defRPr/>
            </a:pPr>
            <a:r>
              <a:rPr lang="fr-CA" sz="2400" b="1" dirty="0">
                <a:solidFill>
                  <a:schemeClr val="tx1"/>
                </a:solidFill>
              </a:rPr>
              <a:t>WHERE</a:t>
            </a:r>
            <a:r>
              <a:rPr lang="fr-CA" sz="2400" dirty="0">
                <a:solidFill>
                  <a:schemeClr val="tx1"/>
                </a:solidFill>
              </a:rPr>
              <a:t>	&lt;liste des critères de restriction&gt;</a:t>
            </a:r>
          </a:p>
          <a:p>
            <a:pPr>
              <a:buFont typeface="Wingdings" pitchFamily="2" charset="2"/>
              <a:buNone/>
              <a:tabLst>
                <a:tab pos="1617663" algn="l"/>
              </a:tabLst>
              <a:defRPr/>
            </a:pPr>
            <a:r>
              <a:rPr lang="fr-CA" sz="2400" b="1" dirty="0">
                <a:solidFill>
                  <a:schemeClr val="tx1"/>
                </a:solidFill>
              </a:rPr>
              <a:t>GROUP BY</a:t>
            </a:r>
            <a:r>
              <a:rPr lang="fr-CA" sz="2400" dirty="0">
                <a:solidFill>
                  <a:schemeClr val="tx1"/>
                </a:solidFill>
              </a:rPr>
              <a:t>	</a:t>
            </a:r>
            <a:r>
              <a:rPr lang="fr-CA" sz="2400" b="1" dirty="0">
                <a:solidFill>
                  <a:srgbClr val="FF0000"/>
                </a:solidFill>
              </a:rPr>
              <a:t>&lt;liste des expressions d'agrégation&gt;</a:t>
            </a:r>
          </a:p>
          <a:p>
            <a:pPr>
              <a:buFont typeface="Wingdings" pitchFamily="2" charset="2"/>
              <a:buNone/>
              <a:tabLst>
                <a:tab pos="1617663" algn="l"/>
              </a:tabLst>
              <a:defRPr/>
            </a:pPr>
            <a:r>
              <a:rPr lang="fr-CA" sz="2400" b="1" dirty="0">
                <a:solidFill>
                  <a:schemeClr val="tx1"/>
                </a:solidFill>
              </a:rPr>
              <a:t>HAVING</a:t>
            </a:r>
            <a:r>
              <a:rPr lang="fr-CA" sz="2400" dirty="0">
                <a:solidFill>
                  <a:schemeClr val="tx1"/>
                </a:solidFill>
              </a:rPr>
              <a:t>	&lt;liste des critères de restriction sur les agrégats&gt;</a:t>
            </a:r>
          </a:p>
          <a:p>
            <a:pPr>
              <a:buFont typeface="Wingdings" pitchFamily="2" charset="2"/>
              <a:buNone/>
              <a:tabLst>
                <a:tab pos="1617663" algn="l"/>
              </a:tabLst>
              <a:defRPr/>
            </a:pPr>
            <a:r>
              <a:rPr lang="fr-CA" sz="2400" b="1" dirty="0">
                <a:solidFill>
                  <a:schemeClr val="tx1"/>
                </a:solidFill>
              </a:rPr>
              <a:t>ORDER BY</a:t>
            </a:r>
            <a:r>
              <a:rPr lang="fr-CA" sz="2400" dirty="0">
                <a:solidFill>
                  <a:schemeClr val="tx1"/>
                </a:solidFill>
              </a:rPr>
              <a:t>	&lt;liste des expressions de tri du résultat&gt;</a:t>
            </a:r>
          </a:p>
        </p:txBody>
      </p:sp>
      <p:sp>
        <p:nvSpPr>
          <p:cNvPr id="10" name="Rectangle 9"/>
          <p:cNvSpPr/>
          <p:nvPr>
            <p:custDataLst>
              <p:tags r:id="rId5"/>
            </p:custDataLst>
          </p:nvPr>
        </p:nvSpPr>
        <p:spPr>
          <a:xfrm>
            <a:off x="480060" y="2768990"/>
            <a:ext cx="7886700" cy="8522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fr-CA" sz="2800" b="1" i="1" u="sng" dirty="0">
                <a:solidFill>
                  <a:schemeClr val="tx1"/>
                </a:solidFill>
              </a:rPr>
              <a:t>Obligatoire</a:t>
            </a:r>
            <a:endParaRPr lang="fr-CA" sz="1200" b="1" i="1" u="sng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480060" y="3621251"/>
            <a:ext cx="7886700" cy="19431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fr-CA" sz="2800" b="1" i="1" u="sng" dirty="0">
                <a:solidFill>
                  <a:schemeClr val="tx1"/>
                </a:solidFill>
              </a:rPr>
              <a:t>Optionnel</a:t>
            </a:r>
            <a:endParaRPr lang="fr-CA" sz="1200" b="1" i="1" u="sng" dirty="0"/>
          </a:p>
        </p:txBody>
      </p:sp>
      <p:sp>
        <p:nvSpPr>
          <p:cNvPr id="12" name="Rectangle 11"/>
          <p:cNvSpPr/>
          <p:nvPr>
            <p:custDataLst>
              <p:tags r:id="rId7"/>
            </p:custDataLst>
          </p:nvPr>
        </p:nvSpPr>
        <p:spPr>
          <a:xfrm>
            <a:off x="556260" y="4070390"/>
            <a:ext cx="1365250" cy="455687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fr-CA" sz="1400" b="1" i="1" u="sng" dirty="0"/>
          </a:p>
        </p:txBody>
      </p:sp>
    </p:spTree>
    <p:extLst>
      <p:ext uri="{BB962C8B-B14F-4D97-AF65-F5344CB8AC3E}">
        <p14:creationId xmlns:p14="http://schemas.microsoft.com/office/powerpoint/2010/main" val="1182383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6122A42A-6D93-4D0A-AE23-55584C403684}" type="slidenum">
              <a:rPr lang="fr-CA" smtClean="0"/>
              <a:pPr defTabSz="914400"/>
              <a:t>14</a:t>
            </a:fld>
            <a:endParaRPr lang="fr-CA" dirty="0"/>
          </a:p>
        </p:txBody>
      </p:sp>
      <p:grpSp>
        <p:nvGrpSpPr>
          <p:cNvPr id="5" name="Groupe 4"/>
          <p:cNvGrpSpPr/>
          <p:nvPr>
            <p:custDataLst>
              <p:tags r:id="rId1"/>
            </p:custDataLst>
          </p:nvPr>
        </p:nvGrpSpPr>
        <p:grpSpPr>
          <a:xfrm>
            <a:off x="4388715" y="1949752"/>
            <a:ext cx="2904928" cy="4303951"/>
            <a:chOff x="2780633" y="1920823"/>
            <a:chExt cx="2904928" cy="4303951"/>
          </a:xfrm>
        </p:grpSpPr>
        <p:grpSp>
          <p:nvGrpSpPr>
            <p:cNvPr id="6" name="Groupe 5"/>
            <p:cNvGrpSpPr/>
            <p:nvPr/>
          </p:nvGrpSpPr>
          <p:grpSpPr>
            <a:xfrm>
              <a:off x="3103081" y="1920823"/>
              <a:ext cx="2582480" cy="4303951"/>
              <a:chOff x="3158586" y="2039357"/>
              <a:chExt cx="2582480" cy="4303951"/>
            </a:xfrm>
          </p:grpSpPr>
          <p:grpSp>
            <p:nvGrpSpPr>
              <p:cNvPr id="8" name="Groupe 7"/>
              <p:cNvGrpSpPr/>
              <p:nvPr/>
            </p:nvGrpSpPr>
            <p:grpSpPr>
              <a:xfrm>
                <a:off x="3160043" y="2039357"/>
                <a:ext cx="2234296" cy="3684109"/>
                <a:chOff x="442054" y="1915180"/>
                <a:chExt cx="2234296" cy="3684109"/>
              </a:xfrm>
            </p:grpSpPr>
            <p:sp>
              <p:nvSpPr>
                <p:cNvPr id="16" name="Rectangle 15"/>
                <p:cNvSpPr/>
                <p:nvPr/>
              </p:nvSpPr>
              <p:spPr>
                <a:xfrm>
                  <a:off x="948267" y="2528711"/>
                  <a:ext cx="914400" cy="307057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CA"/>
                </a:p>
              </p:txBody>
            </p:sp>
            <p:sp>
              <p:nvSpPr>
                <p:cNvPr id="17" name="ZoneTexte 16"/>
                <p:cNvSpPr txBox="1"/>
                <p:nvPr/>
              </p:nvSpPr>
              <p:spPr>
                <a:xfrm>
                  <a:off x="442054" y="1915180"/>
                  <a:ext cx="223429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CA" sz="1600" b="1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Sales.SalesOrderHeader.TotalDue</a:t>
                  </a:r>
                </a:p>
              </p:txBody>
            </p:sp>
          </p:grpSp>
          <p:cxnSp>
            <p:nvCxnSpPr>
              <p:cNvPr id="9" name="Connecteur droit 8"/>
              <p:cNvCxnSpPr/>
              <p:nvPr/>
            </p:nvCxnSpPr>
            <p:spPr>
              <a:xfrm>
                <a:off x="3669170" y="3488267"/>
                <a:ext cx="91148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necteur droit 9"/>
              <p:cNvCxnSpPr/>
              <p:nvPr/>
            </p:nvCxnSpPr>
            <p:spPr>
              <a:xfrm>
                <a:off x="3666256" y="4182533"/>
                <a:ext cx="91148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cteur droit 10"/>
              <p:cNvCxnSpPr/>
              <p:nvPr/>
            </p:nvCxnSpPr>
            <p:spPr>
              <a:xfrm>
                <a:off x="3666256" y="4927600"/>
                <a:ext cx="91148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ZoneTexte 11"/>
              <p:cNvSpPr txBox="1"/>
              <p:nvPr/>
            </p:nvSpPr>
            <p:spPr>
              <a:xfrm>
                <a:off x="3846923" y="3681512"/>
                <a:ext cx="60144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CA" sz="1600" b="1" dirty="0"/>
                  <a:t>2024</a:t>
                </a: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3846923" y="4403782"/>
                <a:ext cx="60144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CA" sz="1600" b="1" dirty="0"/>
                  <a:t>2025</a:t>
                </a: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4577742" y="3466068"/>
                <a:ext cx="116332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400" b="1" dirty="0">
                    <a:cs typeface="Courier New" panose="02070309020205020404" pitchFamily="49" charset="0"/>
                  </a:rPr>
                  <a:t>Fonction</a:t>
                </a:r>
              </a:p>
              <a:p>
                <a:r>
                  <a:rPr lang="fr-CA" sz="1400" b="1" dirty="0">
                    <a:cs typeface="Courier New" panose="02070309020205020404" pitchFamily="49" charset="0"/>
                  </a:rPr>
                  <a:t>d’agrégation</a:t>
                </a:r>
                <a:r>
                  <a:rPr lang="fr-CA" sz="1400" dirty="0">
                    <a:cs typeface="Courier New" panose="02070309020205020404" pitchFamily="49" charset="0"/>
                  </a:rPr>
                  <a:t>:</a:t>
                </a:r>
              </a:p>
              <a:p>
                <a:r>
                  <a:rPr lang="fr-CA" sz="1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AVG()</a:t>
                </a:r>
              </a:p>
            </p:txBody>
          </p:sp>
          <p:sp>
            <p:nvSpPr>
              <p:cNvPr id="15" name="ZoneTexte 14"/>
              <p:cNvSpPr txBox="1"/>
              <p:nvPr/>
            </p:nvSpPr>
            <p:spPr>
              <a:xfrm>
                <a:off x="3158586" y="5820088"/>
                <a:ext cx="192682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A" sz="1400" b="1" dirty="0">
                    <a:cs typeface="Courier New" panose="02070309020205020404" pitchFamily="49" charset="0"/>
                  </a:rPr>
                  <a:t>Clause: </a:t>
                </a:r>
                <a:r>
                  <a:rPr lang="fr-CA" sz="14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GROUP BY</a:t>
                </a:r>
                <a:r>
                  <a:rPr lang="fr-CA" sz="1400" b="1" dirty="0">
                    <a:cs typeface="Courier New" panose="02070309020205020404" pitchFamily="49" charset="0"/>
                  </a:rPr>
                  <a:t> (par année)</a:t>
                </a:r>
                <a:endParaRPr lang="fr-CA" sz="14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7" name="Oval 10"/>
            <p:cNvSpPr/>
            <p:nvPr>
              <p:custDataLst>
                <p:tags r:id="rId6"/>
              </p:custDataLst>
            </p:nvPr>
          </p:nvSpPr>
          <p:spPr>
            <a:xfrm>
              <a:off x="2780633" y="4816075"/>
              <a:ext cx="553412" cy="60686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4800" i="1" dirty="0">
                  <a:solidFill>
                    <a:schemeClr val="tx1"/>
                  </a:solidFill>
                </a:rPr>
                <a:t>2</a:t>
              </a:r>
              <a:endParaRPr lang="fr-CA" i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e 17"/>
          <p:cNvGrpSpPr/>
          <p:nvPr>
            <p:custDataLst>
              <p:tags r:id="rId2"/>
            </p:custDataLst>
          </p:nvPr>
        </p:nvGrpSpPr>
        <p:grpSpPr>
          <a:xfrm>
            <a:off x="1791204" y="1949752"/>
            <a:ext cx="2419849" cy="4297640"/>
            <a:chOff x="183122" y="1920823"/>
            <a:chExt cx="2419849" cy="4297640"/>
          </a:xfrm>
        </p:grpSpPr>
        <p:grpSp>
          <p:nvGrpSpPr>
            <p:cNvPr id="19" name="Groupe 18"/>
            <p:cNvGrpSpPr/>
            <p:nvPr/>
          </p:nvGrpSpPr>
          <p:grpSpPr>
            <a:xfrm>
              <a:off x="368675" y="1920823"/>
              <a:ext cx="2234296" cy="4297640"/>
              <a:chOff x="442055" y="1915180"/>
              <a:chExt cx="2234296" cy="429764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948267" y="2528711"/>
                <a:ext cx="914400" cy="30705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22" name="ZoneTexte 21"/>
              <p:cNvSpPr txBox="1"/>
              <p:nvPr/>
            </p:nvSpPr>
            <p:spPr>
              <a:xfrm>
                <a:off x="442055" y="1915180"/>
                <a:ext cx="223429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Sales.SalesOrderHeader.TotalDue</a:t>
                </a:r>
              </a:p>
            </p:txBody>
          </p:sp>
          <p:cxnSp>
            <p:nvCxnSpPr>
              <p:cNvPr id="23" name="Connecteur droit avec flèche 22"/>
              <p:cNvCxnSpPr/>
              <p:nvPr/>
            </p:nvCxnSpPr>
            <p:spPr>
              <a:xfrm>
                <a:off x="1399822" y="2698044"/>
                <a:ext cx="0" cy="26754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ZoneTexte 23"/>
              <p:cNvSpPr txBox="1"/>
              <p:nvPr/>
            </p:nvSpPr>
            <p:spPr>
              <a:xfrm>
                <a:off x="442055" y="5689600"/>
                <a:ext cx="192682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A" sz="1400" b="1" dirty="0">
                    <a:cs typeface="Courier New" panose="02070309020205020404" pitchFamily="49" charset="0"/>
                  </a:rPr>
                  <a:t>Fonction d’agrégation: </a:t>
                </a:r>
                <a:r>
                  <a:rPr lang="fr-CA" sz="14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AVG()</a:t>
                </a:r>
              </a:p>
            </p:txBody>
          </p:sp>
        </p:grpSp>
        <p:sp>
          <p:nvSpPr>
            <p:cNvPr id="20" name="Oval 10"/>
            <p:cNvSpPr/>
            <p:nvPr>
              <p:custDataLst>
                <p:tags r:id="rId5"/>
              </p:custDataLst>
            </p:nvPr>
          </p:nvSpPr>
          <p:spPr>
            <a:xfrm>
              <a:off x="183122" y="2805572"/>
              <a:ext cx="553412" cy="60686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4800" i="1" dirty="0">
                  <a:solidFill>
                    <a:schemeClr val="tx1"/>
                  </a:solidFill>
                </a:rPr>
                <a:t>1</a:t>
              </a:r>
              <a:endParaRPr lang="fr-CA" i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22960" y="286605"/>
            <a:ext cx="7543800" cy="737458"/>
          </a:xfrm>
        </p:spPr>
        <p:txBody>
          <a:bodyPr>
            <a:norm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Grouper des résultats (suite)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26" name="Rectangle 25"/>
          <p:cNvSpPr/>
          <p:nvPr>
            <p:custDataLst>
              <p:tags r:id="rId4"/>
            </p:custDataLst>
          </p:nvPr>
        </p:nvSpPr>
        <p:spPr>
          <a:xfrm>
            <a:off x="7293642" y="3398662"/>
            <a:ext cx="1669883" cy="143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sz="1600" dirty="0">
                <a:solidFill>
                  <a:srgbClr val="FF0000"/>
                </a:solidFill>
              </a:rPr>
              <a:t>*</a:t>
            </a:r>
            <a:r>
              <a:rPr lang="fr-CA" sz="1600" dirty="0">
                <a:solidFill>
                  <a:schemeClr val="tx1"/>
                </a:solidFill>
              </a:rPr>
              <a:t> </a:t>
            </a:r>
            <a:r>
              <a:rPr lang="fr-CA" sz="1600" b="1" dirty="0">
                <a:solidFill>
                  <a:schemeClr val="tx1"/>
                </a:solidFill>
              </a:rPr>
              <a:t>Cela nous donnera le total moyen des commandes pour 2024, 2025, etc.</a:t>
            </a:r>
          </a:p>
        </p:txBody>
      </p:sp>
    </p:spTree>
    <p:extLst>
      <p:ext uri="{BB962C8B-B14F-4D97-AF65-F5344CB8AC3E}">
        <p14:creationId xmlns:p14="http://schemas.microsoft.com/office/powerpoint/2010/main" val="52805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0" y="286604"/>
            <a:ext cx="7543800" cy="663891"/>
          </a:xfrm>
        </p:spPr>
        <p:txBody>
          <a:bodyPr>
            <a:normAutofit fontScale="90000"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Groupement de résultats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15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36090" y="1094875"/>
            <a:ext cx="8999621" cy="576312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000">
              <a:buFont typeface="Arial" panose="020B0604020202020204" pitchFamily="34" charset="0"/>
              <a:buChar char="•"/>
            </a:pPr>
            <a:r>
              <a:rPr lang="fr-CA" sz="3200" dirty="0">
                <a:solidFill>
                  <a:schemeClr val="tx1"/>
                </a:solidFill>
              </a:rPr>
              <a:t>Imaginons que nous voulons connaître le nombre de produits </a:t>
            </a:r>
            <a:r>
              <a:rPr lang="fr-CA" sz="3200" b="1" dirty="0">
                <a:solidFill>
                  <a:schemeClr val="tx1"/>
                </a:solidFill>
              </a:rPr>
              <a:t>par sous-catégorie</a:t>
            </a:r>
          </a:p>
          <a:p>
            <a:pPr indent="-342000">
              <a:buFont typeface="Arial" panose="020B0604020202020204" pitchFamily="34" charset="0"/>
              <a:buChar char="•"/>
            </a:pPr>
            <a:r>
              <a:rPr lang="fr-CA" sz="3200" dirty="0">
                <a:solidFill>
                  <a:schemeClr val="tx1"/>
                </a:solidFill>
              </a:rPr>
              <a:t>Pour réaliser cette requête, il nous faut:</a:t>
            </a:r>
          </a:p>
          <a:p>
            <a:pPr marL="682128" lvl="2" indent="-457200">
              <a:buFont typeface="+mj-lt"/>
              <a:buAutoNum type="arabicPeriod"/>
            </a:pPr>
            <a:r>
              <a:rPr lang="fr-CA" sz="3200" dirty="0">
                <a:solidFill>
                  <a:schemeClr val="tx1"/>
                </a:solidFill>
              </a:rPr>
              <a:t>Lier les produits (</a:t>
            </a:r>
            <a:r>
              <a:rPr lang="fr-CA" sz="3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Production.Product</a:t>
            </a:r>
            <a:r>
              <a:rPr lang="fr-CA" sz="3200" dirty="0">
                <a:solidFill>
                  <a:schemeClr val="tx1"/>
                </a:solidFill>
              </a:rPr>
              <a:t>) aux sous-catégories (</a:t>
            </a:r>
            <a:r>
              <a:rPr lang="fr-CA" sz="3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Production.ProductSubcategory</a:t>
            </a:r>
            <a:r>
              <a:rPr lang="fr-CA" sz="3200" dirty="0">
                <a:solidFill>
                  <a:schemeClr val="tx1"/>
                </a:solidFill>
              </a:rPr>
              <a:t>) (avec un </a:t>
            </a:r>
            <a:r>
              <a:rPr lang="fr-CA" sz="3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</a:t>
            </a:r>
            <a:r>
              <a:rPr lang="fr-CA" sz="3200" dirty="0">
                <a:solidFill>
                  <a:schemeClr val="tx1"/>
                </a:solidFill>
              </a:rPr>
              <a:t>)</a:t>
            </a:r>
          </a:p>
          <a:p>
            <a:pPr marL="682128" lvl="2" indent="-457200">
              <a:buFont typeface="+mj-lt"/>
              <a:buAutoNum type="arabicPeriod"/>
            </a:pPr>
            <a:r>
              <a:rPr lang="fr-CA" sz="3200" dirty="0">
                <a:solidFill>
                  <a:schemeClr val="tx1"/>
                </a:solidFill>
              </a:rPr>
              <a:t>Grouper les produits par leur sous-catégorie</a:t>
            </a:r>
          </a:p>
          <a:p>
            <a:pPr marL="758000" lvl="5" indent="0">
              <a:buNone/>
            </a:pPr>
            <a:r>
              <a:rPr lang="fr-CA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</a:p>
          <a:p>
            <a:pPr marL="567828" lvl="2" indent="-342900">
              <a:buFont typeface="+mj-lt"/>
              <a:buAutoNum type="arabicPeriod"/>
            </a:pPr>
            <a:r>
              <a:rPr lang="fr-CA" sz="3200" dirty="0">
                <a:solidFill>
                  <a:schemeClr val="tx1"/>
                </a:solidFill>
              </a:rPr>
              <a:t>Trouver le décompte des produits (</a:t>
            </a:r>
            <a:r>
              <a:rPr lang="fr-CA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fr-CA" sz="3200" dirty="0">
                <a:solidFill>
                  <a:schemeClr val="tx1"/>
                </a:solidFill>
              </a:rPr>
              <a:t>) pour chaque sous-catégorie</a:t>
            </a:r>
          </a:p>
        </p:txBody>
      </p:sp>
    </p:spTree>
    <p:extLst>
      <p:ext uri="{BB962C8B-B14F-4D97-AF65-F5344CB8AC3E}">
        <p14:creationId xmlns:p14="http://schemas.microsoft.com/office/powerpoint/2010/main" val="2926450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98896" y="205157"/>
            <a:ext cx="8055569" cy="724049"/>
          </a:xfrm>
        </p:spPr>
        <p:txBody>
          <a:bodyPr>
            <a:norm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Groupement de résultats (suite)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16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" y="1106906"/>
            <a:ext cx="9144000" cy="575109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000">
              <a:buFont typeface="Arial" panose="020B0604020202020204" pitchFamily="34" charset="0"/>
              <a:buChar char="•"/>
            </a:pPr>
            <a:r>
              <a:rPr lang="fr-CA" sz="2800" b="1" dirty="0">
                <a:solidFill>
                  <a:schemeClr val="tx1"/>
                </a:solidFill>
              </a:rPr>
              <a:t>Dans la clause </a:t>
            </a:r>
            <a:r>
              <a:rPr lang="fr-CA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r>
              <a:rPr lang="fr-CA" sz="2800" b="1" dirty="0">
                <a:solidFill>
                  <a:schemeClr val="tx1"/>
                </a:solidFill>
              </a:rPr>
              <a:t>, on inclut les champs qui ne sont pas agrégés par des fonctions d’agrégation (ex., </a:t>
            </a:r>
            <a:r>
              <a:rPr lang="fr-CA" sz="2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ps.Name</a:t>
            </a:r>
            <a:r>
              <a:rPr lang="fr-CA" sz="2800" b="1" dirty="0">
                <a:solidFill>
                  <a:schemeClr val="tx1"/>
                </a:solidFill>
              </a:rPr>
              <a:t>)</a:t>
            </a:r>
          </a:p>
          <a:p>
            <a:pPr indent="-342000">
              <a:buFont typeface="Arial" panose="020B0604020202020204" pitchFamily="34" charset="0"/>
              <a:buChar char="•"/>
            </a:pPr>
            <a:r>
              <a:rPr lang="fr-CA" sz="2800" b="1" dirty="0">
                <a:solidFill>
                  <a:schemeClr val="tx1"/>
                </a:solidFill>
              </a:rPr>
              <a:t>Dans notre exemple, cela donne:</a:t>
            </a:r>
          </a:p>
          <a:p>
            <a:pPr marL="0" indent="0">
              <a:buNone/>
            </a:pPr>
            <a:r>
              <a:rPr lang="fr-CA" sz="28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SELECT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</a:t>
            </a:r>
            <a:r>
              <a:rPr lang="fr-CA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fr-CA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800" b="1" cap="all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COUNT(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fr-CA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NumberProducts</a:t>
            </a:r>
            <a:endParaRPr lang="fr-CA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28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</a:t>
            </a:r>
          </a:p>
          <a:p>
            <a:pPr marL="0" indent="0">
              <a:buNone/>
            </a:pPr>
            <a:r>
              <a:rPr lang="fr-CA" sz="2800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ProductSubCategoryID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ProductSubCategoryID</a:t>
            </a:r>
            <a:endParaRPr lang="fr-CA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28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GROUP BY</a:t>
            </a:r>
            <a:r>
              <a:rPr lang="fr-CA" sz="2800" b="1" cap="all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CA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54077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Grouper des résultats (suite)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17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22960" y="1846263"/>
            <a:ext cx="7543800" cy="44314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-34200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fr-CA" dirty="0">
                <a:solidFill>
                  <a:prstClr val="black"/>
                </a:solidFill>
              </a:rPr>
              <a:t>Lorsque l’</a:t>
            </a:r>
            <a:r>
              <a:rPr lang="fr-CA" dirty="0">
                <a:solidFill>
                  <a:srgbClr val="FF0000"/>
                </a:solidFill>
              </a:rPr>
              <a:t>on veut filtrer </a:t>
            </a:r>
            <a:r>
              <a:rPr lang="fr-CA" b="1" i="1" dirty="0">
                <a:solidFill>
                  <a:srgbClr val="FF0000"/>
                </a:solidFill>
              </a:rPr>
              <a:t>les résultats </a:t>
            </a:r>
            <a:r>
              <a:rPr lang="fr-CA" dirty="0">
                <a:solidFill>
                  <a:srgbClr val="FF0000"/>
                </a:solidFill>
              </a:rPr>
              <a:t>d’une agrégation</a:t>
            </a:r>
            <a:r>
              <a:rPr lang="fr-CA" dirty="0">
                <a:solidFill>
                  <a:prstClr val="black"/>
                </a:solidFill>
              </a:rPr>
              <a:t>, on ne peut utiliser les critères de restriction dans la clause 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</a:p>
          <a:p>
            <a:pPr marL="475488" lvl="2" indent="-34200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Symbol" panose="05050102010706020507" pitchFamily="18" charset="2"/>
              <a:buChar char="-"/>
            </a:pPr>
            <a:r>
              <a:rPr lang="fr-CA" sz="1800" dirty="0">
                <a:solidFill>
                  <a:prstClr val="black"/>
                </a:solidFill>
              </a:rPr>
              <a:t>Il faut placer les critères de restriction dans la clause </a:t>
            </a:r>
            <a:r>
              <a:rPr lang="fr-CA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</a:p>
        </p:txBody>
      </p:sp>
      <p:sp>
        <p:nvSpPr>
          <p:cNvPr id="9" name="Rectangle 3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767646" y="3251201"/>
            <a:ext cx="7543800" cy="2771775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  <a:tabLst>
                <a:tab pos="1617663" algn="l"/>
              </a:tabLst>
              <a:defRPr/>
            </a:pPr>
            <a:r>
              <a:rPr lang="fr-CA" sz="2400" b="1" dirty="0">
                <a:solidFill>
                  <a:schemeClr val="tx1"/>
                </a:solidFill>
              </a:rPr>
              <a:t>SELECT</a:t>
            </a:r>
            <a:r>
              <a:rPr lang="fr-CA" sz="2400" dirty="0">
                <a:solidFill>
                  <a:schemeClr val="tx1"/>
                </a:solidFill>
              </a:rPr>
              <a:t>	&lt;liste d’expressions&gt;</a:t>
            </a:r>
          </a:p>
          <a:p>
            <a:pPr>
              <a:buFont typeface="Wingdings" pitchFamily="2" charset="2"/>
              <a:buNone/>
              <a:tabLst>
                <a:tab pos="1617663" algn="l"/>
              </a:tabLst>
              <a:defRPr/>
            </a:pPr>
            <a:r>
              <a:rPr lang="fr-CA" sz="2400" b="1" dirty="0">
                <a:solidFill>
                  <a:schemeClr val="tx1"/>
                </a:solidFill>
              </a:rPr>
              <a:t>FROM</a:t>
            </a:r>
            <a:r>
              <a:rPr lang="fr-CA" sz="2400" dirty="0">
                <a:solidFill>
                  <a:schemeClr val="tx1"/>
                </a:solidFill>
              </a:rPr>
              <a:t> 	&lt;liste des tables touchées par la question&gt;</a:t>
            </a:r>
          </a:p>
          <a:p>
            <a:pPr>
              <a:buFont typeface="Wingdings" pitchFamily="2" charset="2"/>
              <a:buNone/>
              <a:tabLst>
                <a:tab pos="1617663" algn="l"/>
              </a:tabLst>
              <a:defRPr/>
            </a:pPr>
            <a:r>
              <a:rPr lang="fr-CA" sz="2400" b="1" dirty="0">
                <a:solidFill>
                  <a:schemeClr val="tx1"/>
                </a:solidFill>
              </a:rPr>
              <a:t>WHERE</a:t>
            </a:r>
            <a:r>
              <a:rPr lang="fr-CA" sz="2400" dirty="0">
                <a:solidFill>
                  <a:schemeClr val="tx1"/>
                </a:solidFill>
              </a:rPr>
              <a:t>	&lt;liste des critères de restriction&gt;</a:t>
            </a:r>
          </a:p>
          <a:p>
            <a:pPr>
              <a:buFont typeface="Wingdings" pitchFamily="2" charset="2"/>
              <a:buNone/>
              <a:tabLst>
                <a:tab pos="1617663" algn="l"/>
              </a:tabLst>
              <a:defRPr/>
            </a:pPr>
            <a:r>
              <a:rPr lang="fr-CA" sz="2400" b="1" dirty="0">
                <a:solidFill>
                  <a:schemeClr val="tx1"/>
                </a:solidFill>
              </a:rPr>
              <a:t>GROUP BY</a:t>
            </a:r>
            <a:r>
              <a:rPr lang="fr-CA" sz="2400" dirty="0">
                <a:solidFill>
                  <a:schemeClr val="tx1"/>
                </a:solidFill>
              </a:rPr>
              <a:t>	&lt;liste des expressions d'agrégation&gt;</a:t>
            </a:r>
          </a:p>
          <a:p>
            <a:pPr>
              <a:buFont typeface="Wingdings" pitchFamily="2" charset="2"/>
              <a:buNone/>
              <a:tabLst>
                <a:tab pos="1617663" algn="l"/>
              </a:tabLst>
              <a:defRPr/>
            </a:pPr>
            <a:r>
              <a:rPr lang="fr-CA" sz="2400" b="1" dirty="0">
                <a:solidFill>
                  <a:schemeClr val="tx1"/>
                </a:solidFill>
              </a:rPr>
              <a:t>HAVING</a:t>
            </a:r>
            <a:r>
              <a:rPr lang="fr-CA" sz="2400" dirty="0">
                <a:solidFill>
                  <a:schemeClr val="tx1"/>
                </a:solidFill>
              </a:rPr>
              <a:t>	&lt;liste des critères de restriction sur les agrégats&gt;</a:t>
            </a:r>
          </a:p>
          <a:p>
            <a:pPr>
              <a:buFont typeface="Wingdings" pitchFamily="2" charset="2"/>
              <a:buNone/>
              <a:tabLst>
                <a:tab pos="1617663" algn="l"/>
              </a:tabLst>
              <a:defRPr/>
            </a:pPr>
            <a:r>
              <a:rPr lang="fr-CA" sz="2400" b="1" dirty="0">
                <a:solidFill>
                  <a:schemeClr val="tx1"/>
                </a:solidFill>
              </a:rPr>
              <a:t>ORDER BY</a:t>
            </a:r>
            <a:r>
              <a:rPr lang="fr-CA" sz="2400" dirty="0">
                <a:solidFill>
                  <a:schemeClr val="tx1"/>
                </a:solidFill>
              </a:rPr>
              <a:t>	&lt;liste des expressions de tri du résultat&gt;</a:t>
            </a:r>
          </a:p>
        </p:txBody>
      </p:sp>
      <p:sp>
        <p:nvSpPr>
          <p:cNvPr id="10" name="Rectangle 9"/>
          <p:cNvSpPr/>
          <p:nvPr>
            <p:custDataLst>
              <p:tags r:id="rId5"/>
            </p:custDataLst>
          </p:nvPr>
        </p:nvSpPr>
        <p:spPr>
          <a:xfrm>
            <a:off x="628650" y="3214158"/>
            <a:ext cx="7886700" cy="8522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fr-CA" sz="2800" b="1" i="1" u="sng" dirty="0">
                <a:solidFill>
                  <a:schemeClr val="tx1"/>
                </a:solidFill>
              </a:rPr>
              <a:t>Obligatoire</a:t>
            </a:r>
            <a:endParaRPr lang="fr-CA" sz="1200" b="1" i="1" u="sng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628650" y="4066419"/>
            <a:ext cx="7886700" cy="19431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fr-CA" sz="2800" b="1" i="1" u="sng" dirty="0">
                <a:solidFill>
                  <a:schemeClr val="tx1"/>
                </a:solidFill>
              </a:rPr>
              <a:t>Optionnel</a:t>
            </a:r>
            <a:endParaRPr lang="fr-CA" sz="1200" b="1" i="1" u="sng" dirty="0"/>
          </a:p>
        </p:txBody>
      </p:sp>
      <p:sp>
        <p:nvSpPr>
          <p:cNvPr id="12" name="Rectangle 11"/>
          <p:cNvSpPr/>
          <p:nvPr>
            <p:custDataLst>
              <p:tags r:id="rId7"/>
            </p:custDataLst>
          </p:nvPr>
        </p:nvSpPr>
        <p:spPr>
          <a:xfrm>
            <a:off x="704850" y="4515558"/>
            <a:ext cx="1365250" cy="918756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fr-CA" sz="1400" b="1" i="1" u="sng" dirty="0"/>
          </a:p>
        </p:txBody>
      </p:sp>
    </p:spTree>
    <p:extLst>
      <p:ext uri="{BB962C8B-B14F-4D97-AF65-F5344CB8AC3E}">
        <p14:creationId xmlns:p14="http://schemas.microsoft.com/office/powerpoint/2010/main" val="514447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59" y="286605"/>
            <a:ext cx="8056345" cy="627796"/>
          </a:xfrm>
        </p:spPr>
        <p:txBody>
          <a:bodyPr>
            <a:normAutofit fontScale="90000"/>
          </a:bodyPr>
          <a:lstStyle/>
          <a:p>
            <a:r>
              <a:rPr lang="fr-CA" sz="4400" dirty="0"/>
              <a:t>Groupement de résultats (suite)</a:t>
            </a:r>
            <a:endParaRPr lang="en-US" sz="4400" dirty="0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120316" y="1213277"/>
            <a:ext cx="8758988" cy="443144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endParaRPr lang="fr-CA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fr-CA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4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COUNT(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NumberProducts</a:t>
            </a:r>
            <a:endParaRPr lang="fr-CA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</a:t>
            </a:r>
          </a:p>
          <a:p>
            <a:pPr marL="0" indent="0">
              <a:buNone/>
            </a:pP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ProductSubCategoryID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ProductSubCategoryID</a:t>
            </a:r>
            <a:endParaRPr lang="fr-CA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endParaRPr lang="fr-CA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HAVING </a:t>
            </a:r>
            <a:r>
              <a:rPr lang="fr-CA" sz="24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COUNT(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10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fr-CA" sz="2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/>
          <p:cNvSpPr/>
          <p:nvPr>
            <p:custDataLst>
              <p:tags r:id="rId3"/>
            </p:custDataLst>
          </p:nvPr>
        </p:nvSpPr>
        <p:spPr>
          <a:xfrm>
            <a:off x="22860" y="5593824"/>
            <a:ext cx="9144000" cy="50618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dirty="0">
                <a:solidFill>
                  <a:schemeClr val="bg1"/>
                </a:solidFill>
              </a:rPr>
              <a:t>Interpréter le code</a:t>
            </a:r>
          </a:p>
        </p:txBody>
      </p:sp>
    </p:spTree>
    <p:extLst>
      <p:ext uri="{BB962C8B-B14F-4D97-AF65-F5344CB8AC3E}">
        <p14:creationId xmlns:p14="http://schemas.microsoft.com/office/powerpoint/2010/main" val="3708515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0" y="286605"/>
            <a:ext cx="7543800" cy="736080"/>
          </a:xfrm>
        </p:spPr>
        <p:txBody>
          <a:bodyPr>
            <a:normAutofit/>
          </a:bodyPr>
          <a:lstStyle/>
          <a:p>
            <a:r>
              <a:rPr lang="fr-CA" dirty="0"/>
              <a:t>Ordonner des résultats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19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0" y="1239253"/>
            <a:ext cx="9143999" cy="522053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000">
              <a:buFont typeface="Arial" panose="020B0604020202020204" pitchFamily="34" charset="0"/>
              <a:buChar char="•"/>
            </a:pPr>
            <a:r>
              <a:rPr lang="fr-CA" sz="2400" dirty="0">
                <a:solidFill>
                  <a:schemeClr val="tx1"/>
                </a:solidFill>
              </a:rPr>
              <a:t>Jusqu’à maintenant nous ne nous sommes pas vraiment souciés de trier les résultats</a:t>
            </a:r>
          </a:p>
          <a:p>
            <a:pPr indent="-342000">
              <a:buFont typeface="Arial" panose="020B0604020202020204" pitchFamily="34" charset="0"/>
              <a:buChar char="•"/>
            </a:pPr>
            <a:r>
              <a:rPr lang="fr-CA" sz="2400" dirty="0">
                <a:solidFill>
                  <a:schemeClr val="tx1"/>
                </a:solidFill>
              </a:rPr>
              <a:t>Selon différentes règles, SQL va afficher les résultats de différentes façons</a:t>
            </a:r>
          </a:p>
          <a:p>
            <a:pPr indent="-342000">
              <a:buFont typeface="Arial" panose="020B0604020202020204" pitchFamily="34" charset="0"/>
              <a:buChar char="•"/>
            </a:pPr>
            <a:r>
              <a:rPr lang="fr-CA" sz="2400" dirty="0">
                <a:solidFill>
                  <a:schemeClr val="tx1"/>
                </a:solidFill>
              </a:rPr>
              <a:t>Souvent, on voudrait choisir la façon dont les résultats sont triés par nous-mêmes:</a:t>
            </a:r>
          </a:p>
          <a:p>
            <a:pPr marL="682128" lvl="2" indent="-457200">
              <a:buFont typeface="+mj-lt"/>
              <a:buAutoNum type="arabicPeriod"/>
            </a:pPr>
            <a:endParaRPr lang="fr-CA" sz="2000" dirty="0">
              <a:solidFill>
                <a:schemeClr val="tx1"/>
              </a:solidFill>
            </a:endParaRPr>
          </a:p>
          <a:p>
            <a:pPr marL="682128" lvl="2" indent="-457200">
              <a:buFont typeface="+mj-lt"/>
              <a:buAutoNum type="arabicPeriod"/>
            </a:pPr>
            <a:r>
              <a:rPr lang="fr-CA" sz="2000" dirty="0">
                <a:solidFill>
                  <a:schemeClr val="tx1"/>
                </a:solidFill>
              </a:rPr>
              <a:t>Ordre </a:t>
            </a:r>
            <a:r>
              <a:rPr lang="fr-CA" sz="2000" b="1" dirty="0">
                <a:solidFill>
                  <a:schemeClr val="tx1"/>
                </a:solidFill>
              </a:rPr>
              <a:t>des colonnes</a:t>
            </a:r>
          </a:p>
          <a:p>
            <a:pPr marL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fr-CA" sz="2400" dirty="0">
                <a:solidFill>
                  <a:schemeClr val="tx1"/>
                </a:solidFill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Name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en-US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fr-CA" sz="2400" b="1" dirty="0">
                <a:solidFill>
                  <a:schemeClr val="tx1"/>
                </a:solidFill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Name,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en-US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fr-CA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82128" lvl="2" indent="-457200">
              <a:buFont typeface="+mj-lt"/>
              <a:buAutoNum type="arabicPeriod" startAt="2"/>
            </a:pPr>
            <a:endParaRPr lang="fr-CA" sz="2000" dirty="0">
              <a:solidFill>
                <a:schemeClr val="tx1"/>
              </a:solidFill>
            </a:endParaRPr>
          </a:p>
          <a:p>
            <a:pPr marL="682128" lvl="2" indent="-457200">
              <a:buFont typeface="+mj-lt"/>
              <a:buAutoNum type="arabicPeriod" startAt="2"/>
            </a:pPr>
            <a:r>
              <a:rPr lang="fr-CA" sz="2400" dirty="0">
                <a:solidFill>
                  <a:schemeClr val="tx1"/>
                </a:solidFill>
              </a:rPr>
              <a:t>Ordre </a:t>
            </a:r>
            <a:r>
              <a:rPr lang="fr-CA" sz="2400" b="1" dirty="0">
                <a:solidFill>
                  <a:schemeClr val="tx1"/>
                </a:solidFill>
              </a:rPr>
              <a:t>des valeurs </a:t>
            </a:r>
            <a:r>
              <a:rPr lang="fr-CA" sz="2400" dirty="0">
                <a:solidFill>
                  <a:schemeClr val="tx1"/>
                </a:solidFill>
              </a:rPr>
              <a:t>dans les colonnes de façon </a:t>
            </a:r>
            <a:r>
              <a:rPr lang="fr-CA" sz="2400" b="1" dirty="0">
                <a:solidFill>
                  <a:srgbClr val="FF0000"/>
                </a:solidFill>
              </a:rPr>
              <a:t>ascendant</a:t>
            </a:r>
            <a:r>
              <a:rPr lang="fr-CA" sz="2400" dirty="0">
                <a:solidFill>
                  <a:schemeClr val="tx1"/>
                </a:solidFill>
              </a:rPr>
              <a:t> ou </a:t>
            </a:r>
            <a:r>
              <a:rPr lang="fr-CA" sz="2400" b="1" dirty="0">
                <a:solidFill>
                  <a:srgbClr val="FF0000"/>
                </a:solidFill>
              </a:rPr>
              <a:t>descendant</a:t>
            </a:r>
            <a:r>
              <a:rPr lang="fr-CA" sz="2400" dirty="0">
                <a:solidFill>
                  <a:schemeClr val="tx1"/>
                </a:solidFill>
              </a:rPr>
              <a:t> (pour des données numériques et alphabétique)</a:t>
            </a:r>
          </a:p>
        </p:txBody>
      </p:sp>
    </p:spTree>
    <p:extLst>
      <p:ext uri="{BB962C8B-B14F-4D97-AF65-F5344CB8AC3E}">
        <p14:creationId xmlns:p14="http://schemas.microsoft.com/office/powerpoint/2010/main" val="41499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0" y="286605"/>
            <a:ext cx="7543800" cy="615764"/>
          </a:xfrm>
        </p:spPr>
        <p:txBody>
          <a:bodyPr>
            <a:normAutofit fontScale="90000"/>
          </a:bodyPr>
          <a:lstStyle/>
          <a:p>
            <a:r>
              <a:rPr lang="fr-CA" b="1" dirty="0"/>
              <a:t>Ordonner des résultats (suite)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20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96254" y="1191752"/>
            <a:ext cx="9081352" cy="5666247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000">
              <a:buFont typeface="Arial" panose="020B0604020202020204" pitchFamily="34" charset="0"/>
              <a:buChar char="•"/>
            </a:pPr>
            <a:r>
              <a:rPr lang="fr-CA" sz="3000" b="1" dirty="0">
                <a:solidFill>
                  <a:schemeClr val="tx1"/>
                </a:solidFill>
              </a:rPr>
              <a:t>Pour ordonner les résultats, on utilise la clause </a:t>
            </a:r>
            <a:r>
              <a:rPr lang="fr-CA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</a:p>
          <a:p>
            <a:pPr marL="0" indent="0">
              <a:buNone/>
            </a:pPr>
            <a:endParaRPr lang="fr-CA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1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US" sz="31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Name </a:t>
            </a:r>
            <a:r>
              <a:rPr lang="en-US" sz="31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en-US" sz="31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31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en-US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  <a:r>
              <a:rPr lang="en-US" sz="31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31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fr-CA" sz="3100" b="1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fr-CA" sz="31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endParaRPr lang="fr-CA" sz="31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sz="31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CA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fr-CA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</a:t>
            </a:r>
            <a:r>
              <a:rPr lang="fr-CA" sz="31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fr-CA" sz="31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31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CA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Product</a:t>
            </a:r>
          </a:p>
          <a:p>
            <a:pPr marL="0" indent="0">
              <a:buNone/>
            </a:pPr>
            <a:r>
              <a:rPr lang="fr-CA" sz="31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fr-CA" sz="31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fr-CA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</a:t>
            </a:r>
          </a:p>
          <a:p>
            <a:pPr marL="0" indent="0">
              <a:buNone/>
            </a:pPr>
            <a:r>
              <a:rPr lang="fr-CA" sz="31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 </a:t>
            </a:r>
            <a:r>
              <a:rPr lang="fr-CA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fr-CA" sz="31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</a:t>
            </a:r>
            <a:r>
              <a:rPr lang="fr-CA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ON </a:t>
            </a:r>
            <a:r>
              <a:rPr lang="fr-CA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sz="31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ProductSubCategoryID</a:t>
            </a:r>
            <a:r>
              <a:rPr lang="fr-CA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31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31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ProductSubCategoryID</a:t>
            </a:r>
            <a:endParaRPr lang="fr-CA" sz="31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1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1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en-US" sz="31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1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sz="31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31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1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1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  <a:r>
              <a:rPr lang="en-US" sz="31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72160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0" y="286604"/>
            <a:ext cx="7543800" cy="83233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Exercice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21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52663" y="1251284"/>
            <a:ext cx="8650705" cy="50229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sz="2800" b="1" dirty="0">
                <a:solidFill>
                  <a:srgbClr val="FF0000"/>
                </a:solidFill>
              </a:rPr>
              <a:t>Listez les ventes par pays (nom du pays, montant total des ventes) triées par pays (2-3 minutes)</a:t>
            </a:r>
          </a:p>
          <a:p>
            <a:pPr marL="0" indent="0">
              <a:buNone/>
            </a:pPr>
            <a:endParaRPr lang="fr-CA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CountryRegionCode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soh</a:t>
            </a:r>
            <a:r>
              <a:rPr lang="en-US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TotalDue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[Total Sales]</a:t>
            </a:r>
          </a:p>
          <a:p>
            <a:pPr marL="0" indent="0">
              <a:buNone/>
            </a:pPr>
            <a:r>
              <a:rPr lang="fr-CA" sz="28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SalesTerritory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</a:t>
            </a:r>
          </a:p>
          <a:p>
            <a:pPr marL="0" indent="0">
              <a:buNone/>
            </a:pPr>
            <a:r>
              <a:rPr lang="fr-CA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SalesOrderHeader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soh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soh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TerritoryID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TerritoryID</a:t>
            </a:r>
            <a:endParaRPr lang="fr-CA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CountryRegionCode</a:t>
            </a:r>
            <a:endParaRPr lang="fr-CA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28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CountryRegionCode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fr-CA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fr-CA" sz="28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fr-C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29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0" y="286604"/>
            <a:ext cx="7543800" cy="699985"/>
          </a:xfrm>
        </p:spPr>
        <p:txBody>
          <a:bodyPr>
            <a:normAutofit fontScale="90000"/>
          </a:bodyPr>
          <a:lstStyle/>
          <a:p>
            <a:r>
              <a:rPr lang="en-US" dirty="0"/>
              <a:t>Exercice 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22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40633" y="986589"/>
            <a:ext cx="8650704" cy="528765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sz="2800" b="1" dirty="0">
                <a:solidFill>
                  <a:srgbClr val="FF0000"/>
                </a:solidFill>
              </a:rPr>
              <a:t>Quel est le montant moyen des ventes par année (année, montant moyen), le tout trié par année? (2-3 minutes)</a:t>
            </a:r>
          </a:p>
          <a:p>
            <a:pPr marL="0" indent="0">
              <a:buNone/>
            </a:pPr>
            <a:endParaRPr lang="fr-CA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datepart</a:t>
            </a:r>
            <a:r>
              <a:rPr lang="en-US" sz="2800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cap="all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OrderDate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[Year]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TotalDue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[Avg. Amount] </a:t>
            </a:r>
          </a:p>
          <a:p>
            <a:pPr marL="0" indent="0">
              <a:buNone/>
            </a:pPr>
            <a:r>
              <a:rPr lang="fr-CA" sz="28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fr-CA" sz="2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SalesOrderHeader</a:t>
            </a:r>
            <a:endParaRPr lang="fr-CA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datepart</a:t>
            </a:r>
            <a:r>
              <a:rPr lang="fr-CA" sz="2800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800" b="1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  <a:r>
              <a:rPr lang="fr-CA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OrderDate</a:t>
            </a:r>
            <a:r>
              <a:rPr lang="fr-CA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fr-CA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datepart</a:t>
            </a:r>
            <a:r>
              <a:rPr lang="en-US" sz="2800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cap="all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OrderDate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7755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0" y="286604"/>
            <a:ext cx="7543800" cy="651859"/>
          </a:xfrm>
        </p:spPr>
        <p:txBody>
          <a:bodyPr>
            <a:normAutofit fontScale="90000"/>
          </a:bodyPr>
          <a:lstStyle/>
          <a:p>
            <a:r>
              <a:rPr lang="fr-CA" dirty="0"/>
              <a:t>Filtrage de résultats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23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96253" y="1922903"/>
            <a:ext cx="9047747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sz="3200" dirty="0">
                <a:solidFill>
                  <a:schemeClr val="tx1"/>
                </a:solidFill>
              </a:rPr>
              <a:t>Nous avons déjà parlé du filtrage de résultats </a:t>
            </a:r>
            <a:r>
              <a:rPr lang="fr-CA" sz="3200" dirty="0">
                <a:solidFill>
                  <a:srgbClr val="FF0000"/>
                </a:solidFill>
              </a:rPr>
              <a:t>en utilisant des critères de restriction dans la clause </a:t>
            </a:r>
            <a:r>
              <a:rPr lang="fr-CA" sz="3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sz="3200" dirty="0">
                <a:solidFill>
                  <a:schemeClr val="tx1"/>
                </a:solidFill>
              </a:rPr>
              <a:t>Il est important de noter que l’on peut avoir plusieurs conditions dans une clause </a:t>
            </a:r>
            <a:r>
              <a:rPr lang="fr-CA" sz="3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sz="3200" dirty="0">
                <a:solidFill>
                  <a:schemeClr val="tx1"/>
                </a:solidFill>
              </a:rPr>
              <a:t>Il faut cependant faire attention </a:t>
            </a:r>
            <a:r>
              <a:rPr lang="fr-CA" sz="3200" b="1" dirty="0">
                <a:solidFill>
                  <a:srgbClr val="0070C0"/>
                </a:solidFill>
              </a:rPr>
              <a:t>à l’ordre de ces conditions et leur association</a:t>
            </a:r>
          </a:p>
        </p:txBody>
      </p:sp>
    </p:spTree>
    <p:extLst>
      <p:ext uri="{BB962C8B-B14F-4D97-AF65-F5344CB8AC3E}">
        <p14:creationId xmlns:p14="http://schemas.microsoft.com/office/powerpoint/2010/main" val="66860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58" y="33091"/>
            <a:ext cx="7543800" cy="712017"/>
          </a:xfrm>
        </p:spPr>
        <p:txBody>
          <a:bodyPr>
            <a:normAutofit fontScale="90000"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Filtrage de résultats (suite)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24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98520" y="829006"/>
            <a:ext cx="8837195" cy="563077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sz="2800" dirty="0">
                <a:solidFill>
                  <a:schemeClr val="tx1"/>
                </a:solidFill>
              </a:rPr>
              <a:t>Pour indiquer les associations entre conditions, on </a:t>
            </a:r>
            <a:r>
              <a:rPr lang="fr-CA" sz="2800" b="1" dirty="0">
                <a:solidFill>
                  <a:srgbClr val="00B050"/>
                </a:solidFill>
              </a:rPr>
              <a:t>utilise des parenthèses</a:t>
            </a:r>
            <a:r>
              <a:rPr lang="fr-CA" sz="2800" dirty="0">
                <a:solidFill>
                  <a:srgbClr val="00B050"/>
                </a:solidFill>
              </a:rPr>
              <a:t> </a:t>
            </a:r>
            <a:r>
              <a:rPr lang="fr-CA" sz="2800" dirty="0">
                <a:solidFill>
                  <a:schemeClr val="tx1"/>
                </a:solidFill>
              </a:rPr>
              <a:t>pour spécifier l’ordre d’exécution des différents conditions (comme en algèbre)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 </a:t>
            </a:r>
            <a:r>
              <a:rPr lang="en-US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'%Thin%'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 </a:t>
            </a:r>
            <a:r>
              <a:rPr lang="en-US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'%Thin%'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'%Large%'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 </a:t>
            </a:r>
            <a:r>
              <a:rPr lang="en-US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'%Thin%'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'%Lock%'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 </a:t>
            </a:r>
            <a:r>
              <a:rPr lang="en-US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'%Thin%'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'%Large%'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'%Lock%'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 </a:t>
            </a:r>
            <a:r>
              <a:rPr lang="en-US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'%Thin%'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'%Large%'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'%Lock%'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1938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0" y="286604"/>
            <a:ext cx="7543800" cy="663891"/>
          </a:xfrm>
        </p:spPr>
        <p:txBody>
          <a:bodyPr>
            <a:normAutofit fontScale="90000"/>
          </a:bodyPr>
          <a:lstStyle/>
          <a:p>
            <a:r>
              <a:rPr lang="fr-CA" dirty="0"/>
              <a:t>Filtrage de résultats (suite)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25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04537" y="950495"/>
            <a:ext cx="8855242" cy="5907505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sz="3000" dirty="0">
                <a:solidFill>
                  <a:schemeClr val="tx1"/>
                </a:solidFill>
              </a:rPr>
              <a:t>On peut utiliser la clause </a:t>
            </a:r>
            <a:r>
              <a:rPr lang="fr-CA" sz="3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</a:t>
            </a:r>
            <a:r>
              <a:rPr lang="fr-CA" sz="3000" dirty="0">
                <a:solidFill>
                  <a:schemeClr val="tx1"/>
                </a:solidFill>
              </a:rPr>
              <a:t> afin de n’afficher qu’un certain nombre de résultats (par exemple les 5 premiers, ou le premier décile – le top 10%)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sz="2600" b="1" dirty="0">
                <a:solidFill>
                  <a:srgbClr val="FF0000"/>
                </a:solidFill>
              </a:rPr>
              <a:t>Il faut toujours préciser une clause </a:t>
            </a:r>
            <a:r>
              <a:rPr lang="fr-CA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 </a:t>
            </a:r>
            <a:r>
              <a:rPr lang="fr-CA" sz="2600" b="1" dirty="0">
                <a:solidFill>
                  <a:srgbClr val="FF0000"/>
                </a:solidFill>
              </a:rPr>
              <a:t>pour déterminer comment le </a:t>
            </a:r>
            <a:r>
              <a:rPr lang="fr-CA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</a:t>
            </a:r>
            <a:r>
              <a:rPr lang="fr-CA" sz="2600" b="1" dirty="0">
                <a:solidFill>
                  <a:srgbClr val="FF0000"/>
                </a:solidFill>
              </a:rPr>
              <a:t> fonctionne</a:t>
            </a:r>
          </a:p>
          <a:p>
            <a:pPr>
              <a:buFont typeface="Arial" panose="020B0604020202020204" pitchFamily="34" charset="0"/>
              <a:buChar char="•"/>
            </a:pPr>
            <a:endParaRPr lang="fr-CA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CA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fr-CA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6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</a:t>
            </a:r>
            <a:r>
              <a:rPr lang="fr-CA" sz="2600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600" b="1" cap="all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fr-CA" sz="26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fr-CA" sz="26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6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fr-CA" sz="26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fr-CA" sz="26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6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fr-CA" sz="26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fr-CA" sz="26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fr-CA" sz="26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SalesYTD</a:t>
            </a:r>
            <a:endParaRPr lang="fr-CA" sz="26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26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fr-CA" sz="26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SalesPerson</a:t>
            </a:r>
            <a:r>
              <a:rPr lang="fr-CA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</a:t>
            </a:r>
          </a:p>
          <a:p>
            <a:pPr marL="0" indent="0">
              <a:buNone/>
            </a:pPr>
            <a:r>
              <a:rPr lang="fr-CA" sz="26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 </a:t>
            </a:r>
            <a:r>
              <a:rPr lang="fr-CA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fr-CA" sz="26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fr-CA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 </a:t>
            </a:r>
            <a:r>
              <a:rPr lang="fr-CA" sz="2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fr-CA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6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BusinessEntityID</a:t>
            </a:r>
            <a:r>
              <a:rPr lang="fr-CA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6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fr-CA" sz="26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BusinessEntityID</a:t>
            </a:r>
            <a:endParaRPr lang="fr-CA" sz="26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26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fr-CA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6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fr-CA" sz="2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fr-CA" sz="26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6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SalesYTD</a:t>
            </a:r>
            <a:r>
              <a:rPr lang="fr-CA" sz="26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07459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0" y="286604"/>
            <a:ext cx="7543800" cy="699985"/>
          </a:xfrm>
        </p:spPr>
        <p:txBody>
          <a:bodyPr>
            <a:normAutofit fontScale="90000"/>
          </a:bodyPr>
          <a:lstStyle/>
          <a:p>
            <a:r>
              <a:rPr lang="en-US" dirty="0"/>
              <a:t>Exercice 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26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16568" y="1191126"/>
            <a:ext cx="8927432" cy="508311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sz="2400" b="1" dirty="0">
                <a:solidFill>
                  <a:schemeClr val="tx1"/>
                </a:solidFill>
              </a:rPr>
              <a:t>Donnez le nom des produits dans le TOP 5% des articles les plus populaires (pensez quantité vendue soit </a:t>
            </a:r>
            <a:r>
              <a:rPr lang="fr-CA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OrderQty</a:t>
            </a:r>
            <a:r>
              <a:rPr lang="fr-CA" sz="2400" b="1" dirty="0">
                <a:solidFill>
                  <a:schemeClr val="tx1"/>
                </a:solidFill>
              </a:rPr>
              <a:t>) </a:t>
            </a:r>
            <a:r>
              <a:rPr lang="fr-CA" sz="2400" b="1" dirty="0">
                <a:solidFill>
                  <a:srgbClr val="FF0000"/>
                </a:solidFill>
              </a:rPr>
              <a:t>chez AdventureWorks (1-2 minutes)</a:t>
            </a:r>
          </a:p>
          <a:p>
            <a:pPr marL="0" indent="0">
              <a:buNone/>
            </a:pPr>
            <a:endParaRPr lang="fr-CA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5 </a:t>
            </a: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percent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[Product]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all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sz="2400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cap="all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OrderQty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[Total Orders]</a:t>
            </a:r>
          </a:p>
          <a:p>
            <a:pPr marL="0" indent="0">
              <a:buNone/>
            </a:pPr>
            <a:r>
              <a:rPr lang="fr-CA" sz="24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SalesOrderdetail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sod</a:t>
            </a:r>
            <a:endParaRPr lang="fr-CA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 </a:t>
            </a:r>
            <a:r>
              <a:rPr lang="fr-CA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sod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endParaRPr lang="fr-CA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endParaRPr lang="fr-CA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24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 </a:t>
            </a:r>
            <a:r>
              <a:rPr lang="fr-CA" sz="24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0805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0632" y="286605"/>
            <a:ext cx="8126128" cy="675922"/>
          </a:xfrm>
        </p:spPr>
        <p:txBody>
          <a:bodyPr>
            <a:normAutofit fontScale="90000"/>
          </a:bodyPr>
          <a:lstStyle/>
          <a:p>
            <a:r>
              <a:rPr lang="fr-CA" dirty="0"/>
              <a:t>Résultats uniques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27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40632" y="962527"/>
            <a:ext cx="8903368" cy="586238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sz="2400" b="1" dirty="0">
                <a:solidFill>
                  <a:schemeClr val="tx1"/>
                </a:solidFill>
              </a:rPr>
              <a:t>la clause </a:t>
            </a:r>
            <a:r>
              <a:rPr lang="fr-CA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DISTINCT</a:t>
            </a:r>
            <a:r>
              <a:rPr lang="fr-CA" sz="2400" b="1" dirty="0">
                <a:solidFill>
                  <a:schemeClr val="tx1"/>
                </a:solidFill>
              </a:rPr>
              <a:t> permet de ne pas afficher de doublons dans un résultat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sz="2400" b="1" dirty="0">
                <a:solidFill>
                  <a:schemeClr val="tx1"/>
                </a:solidFill>
              </a:rPr>
              <a:t>SQL va d’abord générer la table virtuelle avec le résultat et enlever les doublons avant de l’afficher dans l’application client</a:t>
            </a:r>
          </a:p>
          <a:p>
            <a:pPr>
              <a:buFont typeface="Arial" panose="020B0604020202020204" pitchFamily="34" charset="0"/>
              <a:buChar char="•"/>
            </a:pPr>
            <a:endParaRPr lang="fr-CA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distinct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[Status]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en-US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SalesOrderHeader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endParaRPr lang="fr-CA" sz="2400" b="1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CA" sz="2400" b="1" dirty="0">
                <a:solidFill>
                  <a:srgbClr val="FF0000"/>
                </a:solidFill>
              </a:rPr>
              <a:t>On peut également appliquer la clause </a:t>
            </a: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DISTINCT</a:t>
            </a:r>
            <a:r>
              <a:rPr lang="fr-CA" sz="2400" b="1" dirty="0">
                <a:solidFill>
                  <a:srgbClr val="FF0000"/>
                </a:solidFill>
              </a:rPr>
              <a:t> à l’intérieur de fonctions d’agrégation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all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COUNT(</a:t>
            </a: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distinct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CustomerID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en-US" sz="2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SalesOrderHeader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srgbClr val="808080"/>
              </a:solidFill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516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4695" y="286604"/>
            <a:ext cx="8102065" cy="1012807"/>
          </a:xfrm>
        </p:spPr>
        <p:txBody>
          <a:bodyPr>
            <a:normAutofit/>
          </a:bodyPr>
          <a:lstStyle/>
          <a:p>
            <a:r>
              <a:rPr lang="fr-CA" sz="4400" b="1" dirty="0">
                <a:solidFill>
                  <a:srgbClr val="00B050"/>
                </a:solidFill>
              </a:rPr>
              <a:t>Combinaison de résultats multiples</a:t>
            </a:r>
            <a:endParaRPr lang="en-US" sz="4400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28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433137" y="1922903"/>
            <a:ext cx="7933623" cy="4351338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sz="3200" dirty="0">
                <a:solidFill>
                  <a:schemeClr val="tx1"/>
                </a:solidFill>
              </a:rPr>
              <a:t>Parfois, on veut afficher </a:t>
            </a:r>
            <a:r>
              <a:rPr lang="fr-CA" sz="3200" b="1" dirty="0">
                <a:solidFill>
                  <a:srgbClr val="FF0000"/>
                </a:solidFill>
              </a:rPr>
              <a:t>un ensemble de résultats </a:t>
            </a:r>
            <a:r>
              <a:rPr lang="fr-CA" sz="3200" dirty="0">
                <a:solidFill>
                  <a:srgbClr val="FF0000"/>
                </a:solidFill>
              </a:rPr>
              <a:t>qui sont le produit de plusieurs requêtes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fr-CA" sz="2800" dirty="0">
                <a:solidFill>
                  <a:schemeClr val="tx1"/>
                </a:solidFill>
              </a:rPr>
              <a:t>Dans certains cas, (si vous avez les clés </a:t>
            </a:r>
            <a:r>
              <a:rPr lang="fr-CA" sz="2800" b="1" dirty="0">
                <a:solidFill>
                  <a:srgbClr val="00B050"/>
                </a:solidFill>
              </a:rPr>
              <a:t>primaires et étrangères</a:t>
            </a:r>
            <a:r>
              <a:rPr lang="fr-CA" sz="2800" dirty="0">
                <a:solidFill>
                  <a:schemeClr val="tx1"/>
                </a:solidFill>
              </a:rPr>
              <a:t>) on peut écrire une requête avec les jointures appropriées pour y arriver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sz="3200" dirty="0">
                <a:solidFill>
                  <a:schemeClr val="tx1"/>
                </a:solidFill>
              </a:rPr>
              <a:t>Dans d’autres cas, cela n’est pas possible; il faut donc construire les requêtes séparément et mettre leurs résultats ensemble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sz="3200" dirty="0">
                <a:solidFill>
                  <a:schemeClr val="tx1"/>
                </a:solidFill>
              </a:rPr>
              <a:t>Cette opération se fait à l’aide des opérateurs </a:t>
            </a:r>
            <a:r>
              <a:rPr lang="fr-CA" sz="3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fr-CA" sz="3200" dirty="0">
                <a:solidFill>
                  <a:schemeClr val="tx1"/>
                </a:solidFill>
              </a:rPr>
              <a:t>, </a:t>
            </a:r>
            <a:r>
              <a:rPr lang="fr-CA" sz="3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INTERSECT</a:t>
            </a:r>
            <a:r>
              <a:rPr lang="fr-CA" sz="3200" dirty="0">
                <a:solidFill>
                  <a:schemeClr val="tx1"/>
                </a:solidFill>
              </a:rPr>
              <a:t> et </a:t>
            </a:r>
            <a:r>
              <a:rPr lang="fr-CA" sz="3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</a:p>
        </p:txBody>
      </p:sp>
    </p:spTree>
    <p:extLst>
      <p:ext uri="{BB962C8B-B14F-4D97-AF65-F5344CB8AC3E}">
        <p14:creationId xmlns:p14="http://schemas.microsoft.com/office/powerpoint/2010/main" val="1004584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-1" y="286605"/>
            <a:ext cx="9143999" cy="748111"/>
          </a:xfrm>
        </p:spPr>
        <p:txBody>
          <a:bodyPr>
            <a:normAutofit fontScale="90000"/>
          </a:bodyPr>
          <a:lstStyle/>
          <a:p>
            <a:r>
              <a:rPr lang="fr-CA" dirty="0"/>
              <a:t>Combinaison de résultats multiples (suite)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29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0" y="1203158"/>
            <a:ext cx="9144000" cy="56548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sz="2400" dirty="0">
                <a:solidFill>
                  <a:schemeClr val="tx1"/>
                </a:solidFill>
              </a:rPr>
              <a:t>Prenons un exemple simple. Soit dans une </a:t>
            </a:r>
            <a:r>
              <a:rPr lang="fr-CA" sz="2400" dirty="0">
                <a:solidFill>
                  <a:srgbClr val="FF0000"/>
                </a:solidFill>
              </a:rPr>
              <a:t>base de données TIA</a:t>
            </a:r>
            <a:r>
              <a:rPr lang="fr-CA" sz="2400" dirty="0">
                <a:solidFill>
                  <a:schemeClr val="tx1"/>
                </a:solidFill>
              </a:rPr>
              <a:t>…</a:t>
            </a:r>
          </a:p>
          <a:p>
            <a:pPr marL="0" indent="0">
              <a:buNone/>
            </a:pP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Customer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</a:t>
            </a: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varchar</a:t>
            </a:r>
            <a:r>
              <a:rPr lang="en-US" sz="2400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cap="all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City </a:t>
            </a:r>
            <a:r>
              <a:rPr lang="en-US" sz="24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nvarchar</a:t>
            </a:r>
            <a:r>
              <a:rPr lang="en-US" sz="2400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cap="all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Supplier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</a:t>
            </a: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varchar</a:t>
            </a:r>
            <a:r>
              <a:rPr lang="en-US" sz="2400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cap="all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City </a:t>
            </a:r>
            <a:r>
              <a:rPr lang="en-US" sz="2400" b="1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nvarchar</a:t>
            </a:r>
            <a:r>
              <a:rPr lang="en-US" sz="2400" b="1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cap="all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fr-CA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Customer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City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292608" lvl="1" indent="0">
              <a:buNone/>
            </a:pP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‘Rachid'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‘Rabat'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fr-CA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‘Khalid'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‘Tanger'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fr-CA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Supplier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City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endParaRPr lang="fr-CA" sz="2400" b="1" cap="all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‘UIR'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‘Rabat'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fr-CA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‘UIR Salé'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Salé'</a:t>
            </a:r>
            <a:r>
              <a:rPr lang="fr-CA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831493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6253" y="286605"/>
            <a:ext cx="8939463" cy="627795"/>
          </a:xfrm>
        </p:spPr>
        <p:txBody>
          <a:bodyPr>
            <a:normAutofit/>
          </a:bodyPr>
          <a:lstStyle/>
          <a:p>
            <a:r>
              <a:rPr lang="fr-CA" sz="4000" b="1" dirty="0">
                <a:solidFill>
                  <a:srgbClr val="00B050"/>
                </a:solidFill>
              </a:rPr>
              <a:t>Combinaison de résultats multiples (suite)</a:t>
            </a:r>
            <a:endParaRPr lang="en-US" sz="4000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30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472841" y="1754460"/>
            <a:ext cx="8562875" cy="470532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sz="2800" b="1" dirty="0">
                <a:solidFill>
                  <a:srgbClr val="002060"/>
                </a:solidFill>
              </a:rPr>
              <a:t>Comment afficher la liste complète des villes?</a:t>
            </a:r>
          </a:p>
          <a:p>
            <a:pPr>
              <a:buFont typeface="Arial" panose="020B0604020202020204" pitchFamily="34" charset="0"/>
              <a:buChar char="•"/>
            </a:pPr>
            <a:endParaRPr lang="fr-CA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City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Customer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City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Supplier</a:t>
            </a:r>
            <a:r>
              <a:rPr lang="en-US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endParaRPr lang="fr-CA" sz="2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CA" sz="2800" dirty="0">
                <a:solidFill>
                  <a:schemeClr val="tx1"/>
                </a:solidFill>
              </a:rPr>
              <a:t>L’engin exécute 2 requêtes, les combine, et affiche le résultat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sz="2800" dirty="0">
                <a:solidFill>
                  <a:srgbClr val="FF0000"/>
                </a:solidFill>
              </a:rPr>
              <a:t>Il faut donc s’assurer que </a:t>
            </a:r>
            <a:r>
              <a:rPr lang="fr-CA" sz="2800" b="1" dirty="0">
                <a:solidFill>
                  <a:srgbClr val="FF0000"/>
                </a:solidFill>
              </a:rPr>
              <a:t>tous les résultats </a:t>
            </a:r>
            <a:r>
              <a:rPr lang="fr-CA" sz="2800" dirty="0">
                <a:solidFill>
                  <a:srgbClr val="FF0000"/>
                </a:solidFill>
              </a:rPr>
              <a:t>de chaque requête soient compatibles (</a:t>
            </a:r>
            <a:r>
              <a:rPr lang="fr-CA" sz="2800" b="1" dirty="0">
                <a:solidFill>
                  <a:srgbClr val="002060"/>
                </a:solidFill>
              </a:rPr>
              <a:t>nombre de colonnes sélectionnées, type de données, ordre, etc</a:t>
            </a:r>
            <a:r>
              <a:rPr lang="fr-CA" sz="2800" dirty="0">
                <a:solidFill>
                  <a:srgbClr val="FF0000"/>
                </a:solidFill>
              </a:rPr>
              <a:t>.)</a:t>
            </a:r>
          </a:p>
        </p:txBody>
      </p:sp>
      <p:pic>
        <p:nvPicPr>
          <p:cNvPr id="13" name="Image 1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50A70BCB-6919-6A08-4F03-8286E385B1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4676" y="2108784"/>
            <a:ext cx="131445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377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33091"/>
            <a:ext cx="9144000" cy="748962"/>
          </a:xfrm>
        </p:spPr>
        <p:txBody>
          <a:bodyPr>
            <a:normAutofit fontScale="90000"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Combinaison de résultats multiples (suite)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31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0" y="901519"/>
            <a:ext cx="9144000" cy="5923390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sz="2400" b="1" dirty="0">
                <a:solidFill>
                  <a:srgbClr val="FF0000"/>
                </a:solidFill>
              </a:rPr>
              <a:t>Comment afficher la liste des villes communes aux deux tables?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City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Customer </a:t>
            </a:r>
            <a:r>
              <a:rPr lang="en-US" sz="2400" b="1" cap="all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intersect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City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Supplier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CA" sz="2400" b="1" dirty="0">
                <a:solidFill>
                  <a:srgbClr val="FF0000"/>
                </a:solidFill>
              </a:rPr>
              <a:t>Comment afficher la liste des villes qui n’existent pas dans la table </a:t>
            </a: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Supplier</a:t>
            </a:r>
            <a:r>
              <a:rPr lang="fr-CA" sz="2400" b="1" dirty="0">
                <a:solidFill>
                  <a:srgbClr val="FF0000"/>
                </a:solidFill>
              </a:rPr>
              <a:t>?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City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Customer </a:t>
            </a:r>
            <a:r>
              <a:rPr lang="en-US" sz="2400" b="1" cap="all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City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Supplier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2400" dirty="0">
              <a:solidFill>
                <a:srgbClr val="808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808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CA" sz="2400" b="1" dirty="0">
                <a:solidFill>
                  <a:srgbClr val="FF0000"/>
                </a:solidFill>
              </a:rPr>
              <a:t>Comment afficher la liste des villes qui n’existent pas dans la table </a:t>
            </a: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Customer</a:t>
            </a:r>
            <a:r>
              <a:rPr lang="fr-CA" sz="2400" b="1" dirty="0">
                <a:solidFill>
                  <a:srgbClr val="FF0000"/>
                </a:solidFill>
              </a:rPr>
              <a:t>?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City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Supplier </a:t>
            </a:r>
            <a:r>
              <a:rPr lang="en-US" sz="2400" b="1" cap="all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City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Customer</a:t>
            </a:r>
            <a:r>
              <a:rPr lang="en-US" sz="2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922094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2960" y="286605"/>
            <a:ext cx="7543800" cy="57967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Exercice</a:t>
            </a:r>
            <a:r>
              <a:rPr lang="en-US" dirty="0"/>
              <a:t> 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32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96253" y="1118937"/>
            <a:ext cx="9047747" cy="515530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sz="2400" dirty="0">
                <a:solidFill>
                  <a:schemeClr val="tx1"/>
                </a:solidFill>
              </a:rPr>
              <a:t>Quels articles font partie du </a:t>
            </a:r>
            <a:r>
              <a:rPr lang="fr-CA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</a:t>
            </a:r>
            <a:r>
              <a:rPr lang="fr-CA" sz="2400" b="1" dirty="0">
                <a:solidFill>
                  <a:srgbClr val="FF0000"/>
                </a:solidFill>
              </a:rPr>
              <a:t> 1% </a:t>
            </a:r>
            <a:r>
              <a:rPr lang="fr-CA" sz="2400" dirty="0">
                <a:solidFill>
                  <a:schemeClr val="tx1"/>
                </a:solidFill>
              </a:rPr>
              <a:t>des articles </a:t>
            </a:r>
            <a:r>
              <a:rPr lang="fr-CA" sz="2400" b="1" dirty="0">
                <a:solidFill>
                  <a:schemeClr val="tx1"/>
                </a:solidFill>
              </a:rPr>
              <a:t>les plus vendus </a:t>
            </a:r>
            <a:r>
              <a:rPr lang="fr-CA" sz="2400" b="1" i="1" u="sng" dirty="0">
                <a:solidFill>
                  <a:srgbClr val="FF0000"/>
                </a:solidFill>
              </a:rPr>
              <a:t>et</a:t>
            </a:r>
            <a:r>
              <a:rPr lang="fr-CA" sz="2400" dirty="0">
                <a:solidFill>
                  <a:schemeClr val="tx1"/>
                </a:solidFill>
              </a:rPr>
              <a:t> </a:t>
            </a:r>
            <a:r>
              <a:rPr lang="fr-CA" sz="2400" b="1" dirty="0">
                <a:solidFill>
                  <a:schemeClr val="tx1"/>
                </a:solidFill>
              </a:rPr>
              <a:t>les moins </a:t>
            </a:r>
            <a:r>
              <a:rPr lang="fr-CA" sz="2400" dirty="0">
                <a:solidFill>
                  <a:schemeClr val="tx1"/>
                </a:solidFill>
              </a:rPr>
              <a:t>vendus, en considérant la quantité vendu (c.à.d. </a:t>
            </a:r>
            <a:r>
              <a:rPr lang="fr-CA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OrderQty</a:t>
            </a:r>
            <a:r>
              <a:rPr lang="fr-CA" sz="2400" dirty="0">
                <a:solidFill>
                  <a:schemeClr val="tx1"/>
                </a:solidFill>
              </a:rPr>
              <a:t>), chez AdventureWorks? (10 minutes)</a:t>
            </a:r>
          </a:p>
          <a:p>
            <a:pPr>
              <a:buFont typeface="Arial" panose="020B0604020202020204" pitchFamily="34" charset="0"/>
              <a:buChar char="•"/>
            </a:pPr>
            <a:endParaRPr lang="fr-CA" sz="2400" dirty="0">
              <a:solidFill>
                <a:schemeClr val="tx1"/>
              </a:solidFill>
            </a:endParaRPr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EA266A4-178F-C853-04E9-D739E4907B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1917" y="2686103"/>
            <a:ext cx="5690936" cy="393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460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1" y="603957"/>
            <a:ext cx="8873064" cy="625404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Best</a:t>
            </a:r>
            <a:r>
              <a:rPr lang="fr-CA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Best</a:t>
            </a:r>
            <a:r>
              <a:rPr lang="fr-CA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Total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endParaRPr lang="fr-CA" cap="all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 </a:t>
            </a:r>
            <a:r>
              <a:rPr lang="en-US" sz="20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percent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[Name]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'Product'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SUM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OrderQty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'Total'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sz="20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fr-CA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</a:t>
            </a:r>
            <a:r>
              <a:rPr lang="fr-CA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SalesOrderdetail</a:t>
            </a:r>
            <a:r>
              <a:rPr lang="fr-CA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sod</a:t>
            </a:r>
            <a:endParaRPr lang="fr-CA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INNER JOIN 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Production</a:t>
            </a:r>
            <a:r>
              <a:rPr lang="fr-CA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fr-CA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 </a:t>
            </a:r>
            <a:r>
              <a:rPr lang="fr-CA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ON</a:t>
            </a:r>
            <a:r>
              <a:rPr lang="fr-CA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sod</a:t>
            </a:r>
            <a:r>
              <a:rPr lang="fr-CA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fr-CA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CA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fr-CA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endParaRPr lang="fr-CA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GROUP BY</a:t>
            </a:r>
            <a:r>
              <a:rPr lang="fr-CA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</a:t>
            </a:r>
            <a:r>
              <a:rPr lang="fr-CA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[Name]</a:t>
            </a:r>
          </a:p>
          <a:p>
            <a:pPr marL="292608" lvl="1" indent="0">
              <a:buNone/>
            </a:pPr>
            <a:r>
              <a:rPr lang="en-US" sz="20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2 </a:t>
            </a:r>
            <a:r>
              <a:rPr lang="en-US" sz="20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desc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AS Best</a:t>
            </a:r>
          </a:p>
          <a:p>
            <a:pPr marL="0" indent="0">
              <a:buNone/>
            </a:pPr>
            <a:r>
              <a:rPr lang="fr-CA" sz="22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UNION</a:t>
            </a:r>
          </a:p>
          <a:p>
            <a:pPr marL="0" indent="0">
              <a:buNone/>
            </a:pP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Worst</a:t>
            </a:r>
            <a:r>
              <a:rPr lang="fr-CA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Worst</a:t>
            </a:r>
            <a:r>
              <a:rPr lang="fr-CA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Total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endParaRPr lang="fr-CA" cap="all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 </a:t>
            </a:r>
            <a:r>
              <a:rPr lang="en-US" sz="20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percent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'Product'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SUM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OrderQty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'Total'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fr-CA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</a:t>
            </a:r>
            <a:r>
              <a:rPr lang="fr-CA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SalesOrderdetail</a:t>
            </a:r>
            <a:r>
              <a:rPr lang="fr-CA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sod</a:t>
            </a:r>
            <a:endParaRPr lang="fr-CA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INNER JOIN 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Production</a:t>
            </a:r>
            <a:r>
              <a:rPr lang="fr-CA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fr-CA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 </a:t>
            </a:r>
            <a:r>
              <a:rPr lang="fr-CA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ON</a:t>
            </a:r>
            <a:r>
              <a:rPr lang="fr-CA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sod</a:t>
            </a:r>
            <a:r>
              <a:rPr lang="fr-CA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fr-CA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CA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fr-CA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endParaRPr lang="fr-CA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GROUP BY</a:t>
            </a:r>
            <a:r>
              <a:rPr lang="fr-CA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</a:t>
            </a:r>
            <a:r>
              <a:rPr lang="fr-CA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[Name]</a:t>
            </a:r>
          </a:p>
          <a:p>
            <a:pPr marL="292608" lvl="1" indent="0">
              <a:buNone/>
            </a:pPr>
            <a:r>
              <a:rPr lang="en-US" sz="20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2 </a:t>
            </a:r>
            <a:r>
              <a:rPr lang="en-US" sz="20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asc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Worst</a:t>
            </a:r>
          </a:p>
          <a:p>
            <a:pPr marL="0" indent="0">
              <a:buNone/>
            </a:pPr>
            <a:r>
              <a:rPr lang="fr-CA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2 </a:t>
            </a:r>
            <a:r>
              <a:rPr lang="fr-CA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desc</a:t>
            </a:r>
            <a:endParaRPr lang="fr-CA" cap="all" dirty="0">
              <a:solidFill>
                <a:srgbClr val="808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22960" y="0"/>
            <a:ext cx="7543800" cy="603957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Exercice</a:t>
            </a:r>
            <a:r>
              <a:rPr lang="en-US" b="1" dirty="0"/>
              <a:t> 4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1061726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8441" y="1"/>
            <a:ext cx="8891337" cy="625641"/>
          </a:xfrm>
        </p:spPr>
        <p:txBody>
          <a:bodyPr>
            <a:noAutofit/>
          </a:bodyPr>
          <a:lstStyle/>
          <a:p>
            <a:r>
              <a:rPr lang="fr-CA" sz="3600" b="1" dirty="0">
                <a:solidFill>
                  <a:srgbClr val="00B050"/>
                </a:solidFill>
              </a:rPr>
              <a:t>Mise en contexte avec l’intelligence d’affaires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34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0" y="625642"/>
            <a:ext cx="9059778" cy="623235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sz="2400" dirty="0">
                <a:solidFill>
                  <a:schemeClr val="tx1"/>
                </a:solidFill>
              </a:rPr>
              <a:t>un entrepôt de données </a:t>
            </a:r>
            <a:r>
              <a:rPr lang="fr-CA" sz="2400" b="1" dirty="0">
                <a:solidFill>
                  <a:srgbClr val="FF0000"/>
                </a:solidFill>
              </a:rPr>
              <a:t>est optimisé pour l’analyse de données </a:t>
            </a:r>
            <a:r>
              <a:rPr lang="fr-CA" sz="2400" dirty="0">
                <a:solidFill>
                  <a:schemeClr val="tx1"/>
                </a:solidFill>
              </a:rPr>
              <a:t>(par exemple, </a:t>
            </a:r>
            <a:r>
              <a:rPr lang="fr-CA" sz="2400" b="1" dirty="0">
                <a:solidFill>
                  <a:srgbClr val="0070C0"/>
                </a:solidFill>
              </a:rPr>
              <a:t>requêtes rapides et simples</a:t>
            </a:r>
            <a:r>
              <a:rPr lang="fr-CA" sz="2400" dirty="0">
                <a:solidFill>
                  <a:schemeClr val="tx1"/>
                </a:solidFill>
              </a:rPr>
              <a:t>)</a:t>
            </a:r>
          </a:p>
          <a:p>
            <a:pPr marL="544068" lvl="1" indent="-342900">
              <a:buFont typeface="+mj-lt"/>
              <a:buAutoNum type="arabicPeriod"/>
            </a:pPr>
            <a:endParaRPr lang="fr-CA" sz="2400" dirty="0">
              <a:solidFill>
                <a:schemeClr val="tx1"/>
              </a:solidFill>
            </a:endParaRPr>
          </a:p>
          <a:p>
            <a:pPr lvl="4">
              <a:buFont typeface="Symbol" panose="05050102010706020507" pitchFamily="18" charset="2"/>
              <a:buChar char="-"/>
            </a:pPr>
            <a:endParaRPr lang="fr-CA" sz="2200" dirty="0">
              <a:solidFill>
                <a:schemeClr val="tx1"/>
              </a:solidFill>
            </a:endParaRPr>
          </a:p>
          <a:p>
            <a:pPr lvl="2">
              <a:buFont typeface="Symbol" panose="05050102010706020507" pitchFamily="18" charset="2"/>
              <a:buChar char="-"/>
            </a:pPr>
            <a:r>
              <a:rPr lang="fr-CA" sz="2200" dirty="0">
                <a:solidFill>
                  <a:schemeClr val="tx1"/>
                </a:solidFill>
              </a:rPr>
              <a:t>D’une façon générale, </a:t>
            </a:r>
            <a:r>
              <a:rPr lang="fr-CA" sz="2200" b="1" dirty="0">
                <a:solidFill>
                  <a:srgbClr val="FF0000"/>
                </a:solidFill>
              </a:rPr>
              <a:t>la requête la plus simple</a:t>
            </a:r>
            <a:r>
              <a:rPr lang="fr-CA" sz="2200" dirty="0">
                <a:solidFill>
                  <a:srgbClr val="FF0000"/>
                </a:solidFill>
              </a:rPr>
              <a:t> </a:t>
            </a:r>
            <a:r>
              <a:rPr lang="fr-CA" sz="2200" dirty="0">
                <a:solidFill>
                  <a:schemeClr val="tx1"/>
                </a:solidFill>
              </a:rPr>
              <a:t>(</a:t>
            </a:r>
            <a:r>
              <a:rPr lang="fr-CA" sz="2200" b="1" dirty="0">
                <a:solidFill>
                  <a:srgbClr val="00B050"/>
                </a:solidFill>
              </a:rPr>
              <a:t>moins des jointures, des </a:t>
            </a:r>
            <a:r>
              <a:rPr lang="fr-CA" sz="2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</a:t>
            </a:r>
            <a:r>
              <a:rPr lang="fr-CA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fr-CA" sz="2200" b="1" dirty="0">
                <a:solidFill>
                  <a:srgbClr val="00B050"/>
                </a:solidFill>
              </a:rPr>
              <a:t>, etc</a:t>
            </a:r>
            <a:r>
              <a:rPr lang="fr-CA" sz="2200" dirty="0">
                <a:solidFill>
                  <a:schemeClr val="tx1"/>
                </a:solidFill>
              </a:rPr>
              <a:t>.) est souvent préférée</a:t>
            </a:r>
          </a:p>
          <a:p>
            <a:pPr lvl="2">
              <a:buFont typeface="Symbol" panose="05050102010706020507" pitchFamily="18" charset="2"/>
              <a:buChar char="-"/>
            </a:pPr>
            <a:endParaRPr lang="fr-CA" sz="2200" dirty="0">
              <a:solidFill>
                <a:schemeClr val="tx1"/>
              </a:solidFill>
            </a:endParaRPr>
          </a:p>
          <a:p>
            <a:pPr lvl="2">
              <a:buFont typeface="Symbol" panose="05050102010706020507" pitchFamily="18" charset="2"/>
              <a:buChar char="-"/>
            </a:pPr>
            <a:r>
              <a:rPr lang="fr-CA" sz="2200" dirty="0">
                <a:solidFill>
                  <a:schemeClr val="tx1"/>
                </a:solidFill>
              </a:rPr>
              <a:t>S’il existe plusieurs façons de procéder, alors on tiendra compte de critères de </a:t>
            </a:r>
            <a:r>
              <a:rPr lang="fr-CA" sz="2200" b="1" dirty="0">
                <a:solidFill>
                  <a:schemeClr val="tx1"/>
                </a:solidFill>
              </a:rPr>
              <a:t>performance</a:t>
            </a:r>
            <a:r>
              <a:rPr lang="fr-CA" sz="2200" dirty="0">
                <a:solidFill>
                  <a:schemeClr val="tx1"/>
                </a:solidFill>
              </a:rPr>
              <a:t> pour déterminer quelle requête est préférable</a:t>
            </a:r>
          </a:p>
          <a:p>
            <a:pPr lvl="2">
              <a:buFont typeface="Symbol" panose="05050102010706020507" pitchFamily="18" charset="2"/>
              <a:buChar char="-"/>
            </a:pPr>
            <a:endParaRPr lang="fr-CA" sz="2200" dirty="0">
              <a:solidFill>
                <a:schemeClr val="tx1"/>
              </a:solidFill>
            </a:endParaRPr>
          </a:p>
          <a:p>
            <a:pPr lvl="2">
              <a:buFont typeface="Symbol" panose="05050102010706020507" pitchFamily="18" charset="2"/>
              <a:buChar char="-"/>
            </a:pPr>
            <a:r>
              <a:rPr lang="fr-CA" sz="2200" dirty="0">
                <a:solidFill>
                  <a:schemeClr val="tx1"/>
                </a:solidFill>
              </a:rPr>
              <a:t>On cherchera aussi en général à </a:t>
            </a:r>
            <a:r>
              <a:rPr lang="fr-CA" sz="2200" b="1" dirty="0">
                <a:solidFill>
                  <a:schemeClr val="tx1"/>
                </a:solidFill>
              </a:rPr>
              <a:t>être cohérent </a:t>
            </a:r>
            <a:r>
              <a:rPr lang="fr-CA" sz="2200" dirty="0">
                <a:solidFill>
                  <a:schemeClr val="tx1"/>
                </a:solidFill>
              </a:rPr>
              <a:t>dans l’utilisation de requêtes pour suivre certaines façons de faire particulières (c.à.d., des patrons récurrents)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fr-CA" sz="2200" dirty="0">
                <a:solidFill>
                  <a:schemeClr val="tx1"/>
                </a:solidFill>
              </a:rPr>
              <a:t>Avec le temps, ceci facilite notamment la compréhension des requêtes au sein d’une équipe, d’une organisation, etc. et au développement des standards</a:t>
            </a:r>
          </a:p>
        </p:txBody>
      </p:sp>
    </p:spTree>
    <p:extLst>
      <p:ext uri="{BB962C8B-B14F-4D97-AF65-F5344CB8AC3E}">
        <p14:creationId xmlns:p14="http://schemas.microsoft.com/office/powerpoint/2010/main" val="1295801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Mise en contexte avec l’intelligence d’affaires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35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Rappel de la </a:t>
            </a:r>
            <a:r>
              <a:rPr lang="fr-CA" b="1" dirty="0">
                <a:solidFill>
                  <a:schemeClr val="tx1"/>
                </a:solidFill>
              </a:rPr>
              <a:t>séance 2</a:t>
            </a:r>
            <a:r>
              <a:rPr lang="fr-CA" dirty="0">
                <a:solidFill>
                  <a:schemeClr val="tx1"/>
                </a:solidFill>
              </a:rPr>
              <a:t>: un entrepôt de données est optimisé pour l’analyse de données (par exemple, requêtes </a:t>
            </a:r>
            <a:r>
              <a:rPr lang="fr-CA" b="1" dirty="0">
                <a:solidFill>
                  <a:schemeClr val="tx1"/>
                </a:solidFill>
              </a:rPr>
              <a:t>rapides</a:t>
            </a:r>
            <a:r>
              <a:rPr lang="fr-CA" dirty="0">
                <a:solidFill>
                  <a:schemeClr val="tx1"/>
                </a:solidFill>
              </a:rPr>
              <a:t> et </a:t>
            </a:r>
            <a:r>
              <a:rPr lang="fr-CA" b="1" dirty="0">
                <a:solidFill>
                  <a:schemeClr val="tx1"/>
                </a:solidFill>
              </a:rPr>
              <a:t>simples</a:t>
            </a:r>
            <a:r>
              <a:rPr lang="fr-CA" dirty="0">
                <a:solidFill>
                  <a:schemeClr val="tx1"/>
                </a:solidFill>
              </a:rPr>
              <a:t>)</a:t>
            </a:r>
          </a:p>
          <a:p>
            <a:pPr marL="544068" lvl="1" indent="-342900">
              <a:buFont typeface="+mj-lt"/>
              <a:buAutoNum type="arabicPeriod"/>
            </a:pPr>
            <a:endParaRPr lang="fr-CA" dirty="0">
              <a:solidFill>
                <a:schemeClr val="tx1"/>
              </a:solidFill>
            </a:endParaRPr>
          </a:p>
          <a:p>
            <a:pPr marL="544068" lvl="1" indent="-342900">
              <a:buFont typeface="+mj-lt"/>
              <a:buAutoNum type="arabicPeriod" startAt="2"/>
            </a:pPr>
            <a:r>
              <a:rPr lang="fr-CA" dirty="0">
                <a:solidFill>
                  <a:schemeClr val="tx1"/>
                </a:solidFill>
              </a:rPr>
              <a:t>Au niveau de l’exécution de la requête, </a:t>
            </a:r>
            <a:r>
              <a:rPr lang="fr-CA" b="1" dirty="0">
                <a:solidFill>
                  <a:schemeClr val="tx1"/>
                </a:solidFill>
              </a:rPr>
              <a:t>simplifier l’apparence </a:t>
            </a:r>
            <a:r>
              <a:rPr lang="fr-CA" dirty="0">
                <a:solidFill>
                  <a:schemeClr val="tx1"/>
                </a:solidFill>
              </a:rPr>
              <a:t>de la structure physique de l’entrepôt de données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fr-CA" sz="1600" dirty="0">
                <a:solidFill>
                  <a:schemeClr val="tx1"/>
                </a:solidFill>
              </a:rPr>
              <a:t>Même si les tables sont de-normalisées (on a des schémas étoile parfaits), les rapports doivent utiliser des jointures entre la table « fait » et ses tables « dimension »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fr-CA" sz="1600" dirty="0">
                <a:solidFill>
                  <a:schemeClr val="tx1"/>
                </a:solidFill>
              </a:rPr>
              <a:t>Pour simplifier les requetés encore plus et pour répondre à des besoins d’affaires particulières (droit d'accès aux données, sécurité des données, etc.) on pourrait utiliser des vues</a:t>
            </a:r>
          </a:p>
          <a:p>
            <a:pPr lvl="2">
              <a:buFont typeface="Symbol" panose="05050102010706020507" pitchFamily="18" charset="2"/>
              <a:buChar char="-"/>
            </a:pPr>
            <a:endParaRPr lang="fr-C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0941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pPr defTabSz="914400"/>
            <a:fld id="{6122A42A-6D93-4D0A-AE23-55584C403684}" type="slidenum">
              <a:rPr lang="fr-CA" smtClean="0"/>
              <a:pPr defTabSz="914400"/>
              <a:t>36</a:t>
            </a:fld>
            <a:endParaRPr lang="fr-CA" dirty="0"/>
          </a:p>
        </p:txBody>
      </p:sp>
      <p:sp>
        <p:nvSpPr>
          <p:cNvPr id="5" name="Rectangle 4"/>
          <p:cNvSpPr/>
          <p:nvPr>
            <p:custDataLst>
              <p:tags r:id="rId2"/>
            </p:custDataLst>
          </p:nvPr>
        </p:nvSpPr>
        <p:spPr>
          <a:xfrm>
            <a:off x="1" y="1856919"/>
            <a:ext cx="6705600" cy="4602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sz="2000" dirty="0">
                <a:solidFill>
                  <a:srgbClr val="FF0000"/>
                </a:solidFill>
              </a:rPr>
              <a:t>Objet de base des données </a:t>
            </a:r>
            <a:r>
              <a:rPr lang="fr-CA" sz="2000" dirty="0">
                <a:solidFill>
                  <a:schemeClr val="tx1"/>
                </a:solidFill>
              </a:rPr>
              <a:t>dont la définition est stockée dans la base des données de façon similaire aux déclencheurs, fonctions, et procédures.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sz="2000" dirty="0">
                <a:solidFill>
                  <a:schemeClr val="tx1"/>
                </a:solidFill>
              </a:rPr>
              <a:t>Chaque fois qu’une vue est exécutée, elle génère </a:t>
            </a:r>
            <a:r>
              <a:rPr lang="fr-CA" sz="2000" dirty="0">
                <a:solidFill>
                  <a:srgbClr val="FF0000"/>
                </a:solidFill>
              </a:rPr>
              <a:t>un résultat qui est temporairement stocké en mémoire </a:t>
            </a:r>
            <a:r>
              <a:rPr lang="fr-CA" sz="2000" dirty="0">
                <a:solidFill>
                  <a:schemeClr val="tx1"/>
                </a:solidFill>
              </a:rPr>
              <a:t>(similaire à une table virtuelle qui peut être conçue par une sous-requête)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20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dirty="0">
                <a:solidFill>
                  <a:srgbClr val="000000"/>
                </a:solidFill>
              </a:rPr>
              <a:t>Sont essentiellement des requêtes </a:t>
            </a:r>
            <a:r>
              <a:rPr lang="fr-CA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fr-CA" sz="2000" dirty="0">
                <a:solidFill>
                  <a:srgbClr val="000000"/>
                </a:solidFill>
              </a:rPr>
              <a:t> qui sont enregistrées dans la base des données et auquel un nom est attribué (i.e., </a:t>
            </a:r>
            <a:r>
              <a:rPr lang="fr-CA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my_view</a:t>
            </a:r>
            <a:r>
              <a:rPr lang="fr-CA" sz="2000" dirty="0">
                <a:solidFill>
                  <a:srgbClr val="000000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dirty="0">
                <a:solidFill>
                  <a:srgbClr val="000000"/>
                </a:solidFill>
              </a:rPr>
              <a:t>En faisant référence a </a:t>
            </a:r>
            <a:r>
              <a:rPr lang="fr-CA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my_view</a:t>
            </a:r>
            <a:r>
              <a:rPr lang="fr-CA" sz="2000" dirty="0">
                <a:solidFill>
                  <a:srgbClr val="000000"/>
                </a:solidFill>
              </a:rPr>
              <a:t>, ils peuvent être utilisées comme des tables dans des requêtes </a:t>
            </a:r>
            <a:r>
              <a:rPr lang="fr-CA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endParaRPr lang="fr-CA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603982" y="1856919"/>
            <a:ext cx="2470842" cy="4350228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822960" y="286604"/>
            <a:ext cx="7543800" cy="651859"/>
          </a:xfrm>
        </p:spPr>
        <p:txBody>
          <a:bodyPr>
            <a:normAutofit fontScale="90000"/>
          </a:bodyPr>
          <a:lstStyle/>
          <a:p>
            <a:r>
              <a:rPr lang="fr-CA" b="1" dirty="0"/>
              <a:t>Vues / </a:t>
            </a:r>
            <a:r>
              <a:rPr lang="fr-CA" b="1" dirty="0" err="1"/>
              <a:t>Views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0325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Vues / </a:t>
            </a:r>
            <a:r>
              <a:rPr lang="fr-CA" dirty="0" err="1"/>
              <a:t>Views</a:t>
            </a:r>
            <a:r>
              <a:rPr lang="fr-CA" dirty="0"/>
              <a:t> (suite)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37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Les vues (</a:t>
            </a:r>
            <a:r>
              <a:rPr lang="fr-CA" dirty="0" err="1">
                <a:solidFill>
                  <a:schemeClr val="tx1"/>
                </a:solidFill>
              </a:rPr>
              <a:t>views</a:t>
            </a:r>
            <a:r>
              <a:rPr lang="fr-CA" dirty="0">
                <a:solidFill>
                  <a:schemeClr val="tx1"/>
                </a:solidFill>
              </a:rPr>
              <a:t>) </a:t>
            </a:r>
            <a:r>
              <a:rPr lang="fr-CA" dirty="0">
                <a:solidFill>
                  <a:srgbClr val="FF0000"/>
                </a:solidFill>
              </a:rPr>
              <a:t>représentent une </a:t>
            </a:r>
            <a:r>
              <a:rPr lang="fr-CA" b="1" dirty="0">
                <a:solidFill>
                  <a:srgbClr val="FF0000"/>
                </a:solidFill>
              </a:rPr>
              <a:t>structure logique </a:t>
            </a:r>
            <a:r>
              <a:rPr lang="fr-CA" dirty="0">
                <a:solidFill>
                  <a:srgbClr val="FF0000"/>
                </a:solidFill>
              </a:rPr>
              <a:t>par-dessus une structure physique</a:t>
            </a:r>
            <a:r>
              <a:rPr lang="fr-CA" dirty="0">
                <a:solidFill>
                  <a:schemeClr val="tx1"/>
                </a:solidFill>
              </a:rPr>
              <a:t> d’objets d’une base de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Concrètement, une vue permet d’offrir une perspective plus englobante sur </a:t>
            </a:r>
            <a:r>
              <a:rPr lang="fr-CA" b="1" dirty="0">
                <a:solidFill>
                  <a:schemeClr val="tx1"/>
                </a:solidFill>
              </a:rPr>
              <a:t>plusieurs tables </a:t>
            </a:r>
            <a:r>
              <a:rPr lang="fr-CA" dirty="0">
                <a:solidFill>
                  <a:schemeClr val="tx1"/>
                </a:solidFill>
              </a:rPr>
              <a:t>et leurs attributs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On peut utiliser les vues pour offrir une vision uniforme de données réparties sur plusieurs bases de données ou même plusieurs serveurs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fr-CA" dirty="0">
                <a:solidFill>
                  <a:schemeClr val="tx1"/>
                </a:solidFill>
              </a:rPr>
              <a:t>Quels exemples typiques pourrait-on donner?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Les vues permettent un </a:t>
            </a:r>
            <a:r>
              <a:rPr lang="fr-CA" b="1" dirty="0">
                <a:solidFill>
                  <a:schemeClr val="tx1"/>
                </a:solidFill>
              </a:rPr>
              <a:t>partitionnement</a:t>
            </a:r>
            <a:r>
              <a:rPr lang="fr-CA" dirty="0">
                <a:solidFill>
                  <a:schemeClr val="tx1"/>
                </a:solidFill>
              </a:rPr>
              <a:t> à la fois </a:t>
            </a:r>
            <a:r>
              <a:rPr lang="fr-CA" b="1" dirty="0">
                <a:solidFill>
                  <a:schemeClr val="tx1"/>
                </a:solidFill>
              </a:rPr>
              <a:t>vertical</a:t>
            </a:r>
            <a:r>
              <a:rPr lang="fr-CA" dirty="0">
                <a:solidFill>
                  <a:schemeClr val="tx1"/>
                </a:solidFill>
              </a:rPr>
              <a:t> (par colonne) et </a:t>
            </a:r>
            <a:r>
              <a:rPr lang="fr-CA" b="1" dirty="0">
                <a:solidFill>
                  <a:schemeClr val="tx1"/>
                </a:solidFill>
              </a:rPr>
              <a:t>horizontal</a:t>
            </a:r>
            <a:r>
              <a:rPr lang="fr-CA" dirty="0">
                <a:solidFill>
                  <a:schemeClr val="tx1"/>
                </a:solidFill>
              </a:rPr>
              <a:t> (par enregistrement ou set d’enregistrements)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fr-CA" dirty="0">
                <a:solidFill>
                  <a:schemeClr val="tx1"/>
                </a:solidFill>
              </a:rPr>
              <a:t>Ne montrer que les données de l’année 2012; les données d’un département, en particulier, etc.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fr-CA" dirty="0">
                <a:solidFill>
                  <a:schemeClr val="tx1"/>
                </a:solidFill>
              </a:rPr>
              <a:t>Ne montrer que 5 colonnes sur 10 d’une table; dans la table </a:t>
            </a:r>
            <a:r>
              <a:rPr lang="fr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HumanResources.Employee</a:t>
            </a:r>
            <a:r>
              <a:rPr lang="fr-CA" dirty="0">
                <a:solidFill>
                  <a:schemeClr val="tx1"/>
                </a:solidFill>
              </a:rPr>
              <a:t> ne pas afficher la colonne </a:t>
            </a:r>
            <a:r>
              <a:rPr lang="fr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NationalIDNumber</a:t>
            </a:r>
            <a:endParaRPr lang="fr-CA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0964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Vues / </a:t>
            </a:r>
            <a:r>
              <a:rPr lang="fr-CA" dirty="0" err="1"/>
              <a:t>Views</a:t>
            </a:r>
            <a:r>
              <a:rPr lang="fr-CA" dirty="0"/>
              <a:t> (suite)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38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Concrètement, les vues se créent (</a:t>
            </a:r>
            <a:r>
              <a:rPr lang="fr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</a:t>
            </a:r>
            <a:r>
              <a:rPr lang="fr-CA" dirty="0">
                <a:solidFill>
                  <a:schemeClr val="tx1"/>
                </a:solidFill>
              </a:rPr>
              <a:t>), s’effacent (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</a:t>
            </a:r>
            <a:r>
              <a:rPr lang="fr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</a:t>
            </a:r>
            <a:r>
              <a:rPr lang="fr-CA" dirty="0">
                <a:solidFill>
                  <a:schemeClr val="tx1"/>
                </a:solidFill>
              </a:rPr>
              <a:t>) et se maintiennent (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</a:t>
            </a:r>
            <a:r>
              <a:rPr lang="fr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</a:t>
            </a:r>
            <a:r>
              <a:rPr lang="fr-CA" dirty="0">
                <a:solidFill>
                  <a:schemeClr val="tx1"/>
                </a:solidFill>
              </a:rPr>
              <a:t>) comme des tables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fr-CA" dirty="0">
                <a:solidFill>
                  <a:schemeClr val="tx1"/>
                </a:solidFill>
              </a:rPr>
              <a:t>Les vues, une fois créés (ou définies), sont des objets de base de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Le résultat de l’</a:t>
            </a:r>
            <a:r>
              <a:rPr lang="fr-CA" dirty="0">
                <a:solidFill>
                  <a:srgbClr val="FF0000"/>
                </a:solidFill>
              </a:rPr>
              <a:t>exécution d’une vue</a:t>
            </a:r>
            <a:r>
              <a:rPr lang="fr-CA" dirty="0">
                <a:solidFill>
                  <a:schemeClr val="tx1"/>
                </a:solidFill>
              </a:rPr>
              <a:t> est </a:t>
            </a:r>
            <a:r>
              <a:rPr lang="fr-CA" b="1" dirty="0">
                <a:solidFill>
                  <a:schemeClr val="tx1"/>
                </a:solidFill>
              </a:rPr>
              <a:t>une table virtuelle</a:t>
            </a:r>
            <a:endParaRPr lang="fr-CA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Les données de cette table virtuelle seront consultées et intégrées dans le résultat lors de l’exécution d’une requête qui utilise la vue</a:t>
            </a:r>
          </a:p>
          <a:p>
            <a:pPr>
              <a:buFont typeface="Arial" panose="020B0604020202020204" pitchFamily="34" charset="0"/>
              <a:buChar char="•"/>
            </a:pPr>
            <a:endParaRPr lang="fr-CA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Si on efface une vue (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</a:t>
            </a:r>
            <a:r>
              <a:rPr lang="fr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</a:t>
            </a:r>
            <a:r>
              <a:rPr lang="fr-CA" dirty="0">
                <a:solidFill>
                  <a:schemeClr val="tx1"/>
                </a:solidFill>
              </a:rPr>
              <a:t>), les données restent dans la base de données ou pas?</a:t>
            </a:r>
          </a:p>
        </p:txBody>
      </p:sp>
    </p:spTree>
    <p:extLst>
      <p:ext uri="{BB962C8B-B14F-4D97-AF65-F5344CB8AC3E}">
        <p14:creationId xmlns:p14="http://schemas.microsoft.com/office/powerpoint/2010/main" val="315926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Vues / </a:t>
            </a:r>
            <a:r>
              <a:rPr lang="fr-CA" dirty="0" err="1"/>
              <a:t>Views</a:t>
            </a:r>
            <a:r>
              <a:rPr lang="fr-CA" dirty="0"/>
              <a:t> (suite)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822959" y="1922903"/>
            <a:ext cx="7745307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vw_BikeSales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endParaRPr lang="fr-CA" cap="all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en-US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sd</a:t>
            </a:r>
            <a:r>
              <a:rPr lang="en-US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</a:t>
            </a: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AdventureWorks2014</a:t>
            </a:r>
            <a:r>
              <a:rPr lang="en-US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en-US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SalesOrderDetail </a:t>
            </a:r>
            <a:r>
              <a:rPr lang="en-US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endParaRPr lang="en-US" sz="20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en-US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 </a:t>
            </a: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AdventureWorks2014</a:t>
            </a:r>
            <a:r>
              <a:rPr lang="en-US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en-US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p 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000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r>
              <a:rPr lang="en-US" sz="2000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endParaRPr lang="en-US" sz="20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 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AdventureWorks2014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 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sz="2000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ProductSubCategoryID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sz="2000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ProductSubcategoryID</a:t>
            </a:r>
            <a:endParaRPr lang="fr-CA" sz="20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 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AdventureWorks2014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ProductCategory pc </a:t>
            </a:r>
            <a:r>
              <a:rPr lang="fr-CA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</a:t>
            </a:r>
            <a:r>
              <a:rPr lang="fr-CA" sz="2000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ProductCategoryID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sz="2000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ProductCategoryID</a:t>
            </a:r>
            <a:endParaRPr lang="fr-CA" sz="20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000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</a:t>
            </a:r>
            <a:r>
              <a:rPr lang="fr-CA" sz="2000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ProductCategoryID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6" name="Rectangle 5"/>
          <p:cNvSpPr/>
          <p:nvPr>
            <p:custDataLst>
              <p:tags r:id="rId3"/>
            </p:custDataLst>
          </p:nvPr>
        </p:nvSpPr>
        <p:spPr>
          <a:xfrm>
            <a:off x="733778" y="1945481"/>
            <a:ext cx="3815077" cy="3235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Rectangle 6"/>
          <p:cNvSpPr/>
          <p:nvPr>
            <p:custDataLst>
              <p:tags r:id="rId4"/>
            </p:custDataLst>
          </p:nvPr>
        </p:nvSpPr>
        <p:spPr>
          <a:xfrm>
            <a:off x="0" y="6351814"/>
            <a:ext cx="9144000" cy="50618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dirty="0">
                <a:solidFill>
                  <a:schemeClr val="bg1"/>
                </a:solidFill>
              </a:rPr>
              <a:t>Interpréter le code</a:t>
            </a:r>
          </a:p>
        </p:txBody>
      </p:sp>
      <p:sp>
        <p:nvSpPr>
          <p:cNvPr id="8" name="Rectangle à coins arrondis 7"/>
          <p:cNvSpPr/>
          <p:nvPr>
            <p:custDataLst>
              <p:tags r:id="rId5"/>
            </p:custDataLst>
          </p:nvPr>
        </p:nvSpPr>
        <p:spPr>
          <a:xfrm>
            <a:off x="5497455" y="2185933"/>
            <a:ext cx="1483448" cy="349955"/>
          </a:xfrm>
          <a:prstGeom prst="wedgeRoundRectCallout">
            <a:avLst>
              <a:gd name="adj1" fmla="val -112964"/>
              <a:gd name="adj2" fmla="val -45833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CA" dirty="0"/>
              <a:t>Dans </a:t>
            </a:r>
            <a:r>
              <a:rPr lang="fr-CA" dirty="0">
                <a:latin typeface="Courier New" panose="02070309020205020404" pitchFamily="49" charset="0"/>
                <a:cs typeface="Courier New" panose="02070309020205020404" pitchFamily="49" charset="0"/>
              </a:rPr>
              <a:t>TIA</a:t>
            </a:r>
            <a:r>
              <a:rPr lang="fr-CA" dirty="0"/>
              <a:t>…</a:t>
            </a:r>
            <a:endParaRPr lang="fr-CA" i="1" dirty="0"/>
          </a:p>
        </p:txBody>
      </p:sp>
    </p:spTree>
    <p:extLst>
      <p:ext uri="{BB962C8B-B14F-4D97-AF65-F5344CB8AC3E}">
        <p14:creationId xmlns:p14="http://schemas.microsoft.com/office/powerpoint/2010/main" val="13115458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Vues / </a:t>
            </a:r>
            <a:r>
              <a:rPr lang="fr-CA" dirty="0" err="1"/>
              <a:t>Views</a:t>
            </a:r>
            <a:r>
              <a:rPr lang="fr-CA" dirty="0"/>
              <a:t> (suite)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822959" y="1922903"/>
            <a:ext cx="7543801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1800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</a:t>
            </a:r>
            <a:r>
              <a:rPr lang="fr-CA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800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</a:t>
            </a:r>
            <a:r>
              <a:rPr lang="fr-CA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8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vw_BikeSales</a:t>
            </a:r>
            <a:r>
              <a:rPr lang="fr-CA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800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endParaRPr lang="fr-CA" sz="1800" cap="all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sd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AdventureWorks2014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SalesOrderDetail </a:t>
            </a:r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endParaRPr lang="en-US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 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AdventureWorks2014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p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r>
              <a:rPr lang="en-US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endParaRPr lang="en-US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 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AdventureWorks2014</a:t>
            </a:r>
            <a:r>
              <a:rPr lang="fr-CA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fr-CA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 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ProductSubCategoryID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CA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ProductSubcategoryID</a:t>
            </a:r>
            <a:endParaRPr lang="fr-CA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 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AdventureWorks2014</a:t>
            </a:r>
            <a:r>
              <a:rPr lang="fr-CA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fr-CA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ProductCategory pc </a:t>
            </a:r>
            <a:r>
              <a:rPr lang="fr-CA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</a:t>
            </a:r>
            <a:r>
              <a:rPr lang="fr-CA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ProductCategoryID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fr-CA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ProductCategoryID</a:t>
            </a:r>
            <a:endParaRPr lang="fr-CA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</a:t>
            </a:r>
            <a:r>
              <a:rPr lang="fr-CA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ProductCategoryID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  <a:r>
              <a:rPr lang="fr-CA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fr-CA" sz="18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1800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</a:t>
            </a:r>
            <a:r>
              <a:rPr lang="fr-CA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800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</a:t>
            </a:r>
            <a:r>
              <a:rPr lang="fr-CA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8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vw_BikeSales</a:t>
            </a:r>
            <a:r>
              <a:rPr lang="fr-CA" sz="18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fr-CA" sz="1800" dirty="0">
              <a:solidFill>
                <a:srgbClr val="808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>
            <p:custDataLst>
              <p:tags r:id="rId3"/>
            </p:custDataLst>
          </p:nvPr>
        </p:nvSpPr>
        <p:spPr>
          <a:xfrm>
            <a:off x="677333" y="1922904"/>
            <a:ext cx="3391650" cy="301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Rectangle 6"/>
          <p:cNvSpPr/>
          <p:nvPr>
            <p:custDataLst>
              <p:tags r:id="rId4"/>
            </p:custDataLst>
          </p:nvPr>
        </p:nvSpPr>
        <p:spPr>
          <a:xfrm>
            <a:off x="1056735" y="4989689"/>
            <a:ext cx="4339354" cy="338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Rectangle 7"/>
          <p:cNvSpPr/>
          <p:nvPr>
            <p:custDataLst>
              <p:tags r:id="rId5"/>
            </p:custDataLst>
          </p:nvPr>
        </p:nvSpPr>
        <p:spPr>
          <a:xfrm>
            <a:off x="0" y="6351814"/>
            <a:ext cx="9144000" cy="50618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dirty="0">
                <a:solidFill>
                  <a:schemeClr val="bg1"/>
                </a:solidFill>
              </a:rPr>
              <a:t>Interpréter le code</a:t>
            </a:r>
          </a:p>
        </p:txBody>
      </p:sp>
    </p:spTree>
    <p:extLst>
      <p:ext uri="{BB962C8B-B14F-4D97-AF65-F5344CB8AC3E}">
        <p14:creationId xmlns:p14="http://schemas.microsoft.com/office/powerpoint/2010/main" val="22404322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Exercice</a:t>
            </a:r>
            <a:r>
              <a:rPr lang="en-US" dirty="0"/>
              <a:t> 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41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FF0000"/>
                </a:solidFill>
              </a:rPr>
              <a:t>Créez une vue</a:t>
            </a:r>
            <a:r>
              <a:rPr lang="fr-CA" dirty="0">
                <a:solidFill>
                  <a:schemeClr val="tx1"/>
                </a:solidFill>
              </a:rPr>
              <a:t> (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vw_SalesDetailsInfo</a:t>
            </a:r>
            <a:r>
              <a:rPr lang="fr-CA" dirty="0">
                <a:solidFill>
                  <a:schemeClr val="tx1"/>
                </a:solidFill>
              </a:rPr>
              <a:t>) qui, </a:t>
            </a:r>
            <a:r>
              <a:rPr lang="fr-CA" dirty="0">
                <a:solidFill>
                  <a:srgbClr val="FF0000"/>
                </a:solidFill>
              </a:rPr>
              <a:t>pour chaque produit dans une commande</a:t>
            </a:r>
            <a:r>
              <a:rPr lang="fr-CA" dirty="0">
                <a:solidFill>
                  <a:schemeClr val="tx1"/>
                </a:solidFill>
              </a:rPr>
              <a:t>, affiche: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fr-CA" dirty="0">
                <a:solidFill>
                  <a:schemeClr val="tx1"/>
                </a:solidFill>
              </a:rPr>
              <a:t>le nom du produit,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fr-CA" dirty="0">
                <a:solidFill>
                  <a:schemeClr val="tx1"/>
                </a:solidFill>
              </a:rPr>
              <a:t>le nom et la première lettre du prénom du client (ex. </a:t>
            </a:r>
            <a:r>
              <a:rPr lang="fr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Hendergart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J.</a:t>
            </a:r>
            <a:r>
              <a:rPr lang="fr-CA" dirty="0">
                <a:solidFill>
                  <a:schemeClr val="tx1"/>
                </a:solidFill>
              </a:rPr>
              <a:t>),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fr-CA" dirty="0">
                <a:solidFill>
                  <a:schemeClr val="tx1"/>
                </a:solidFill>
              </a:rPr>
              <a:t>l’année de la commande,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fr-CA" dirty="0">
                <a:solidFill>
                  <a:schemeClr val="tx1"/>
                </a:solidFill>
              </a:rPr>
              <a:t>le mois de la commande,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fr-CA" dirty="0">
                <a:solidFill>
                  <a:schemeClr val="tx1"/>
                </a:solidFill>
              </a:rPr>
              <a:t>le nom et la première lettre du prénom du vendeur (ex. </a:t>
            </a:r>
            <a:r>
              <a:rPr lang="fr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Reiter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T.</a:t>
            </a:r>
            <a:r>
              <a:rPr lang="fr-CA" dirty="0">
                <a:solidFill>
                  <a:schemeClr val="tx1"/>
                </a:solidFill>
              </a:rPr>
              <a:t>),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fr-CA" dirty="0">
                <a:solidFill>
                  <a:schemeClr val="tx1"/>
                </a:solidFill>
              </a:rPr>
              <a:t>la quantité commandée et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fr-CA" dirty="0">
                <a:solidFill>
                  <a:schemeClr val="tx1"/>
                </a:solidFill>
              </a:rPr>
              <a:t>le total de la ligne de commande (5-6 minutes)</a:t>
            </a:r>
          </a:p>
        </p:txBody>
      </p:sp>
    </p:spTree>
    <p:extLst>
      <p:ext uri="{BB962C8B-B14F-4D97-AF65-F5344CB8AC3E}">
        <p14:creationId xmlns:p14="http://schemas.microsoft.com/office/powerpoint/2010/main" val="6980871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154546" y="112890"/>
            <a:ext cx="8910432" cy="6649154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CREATE DATABASE [TIA]</a:t>
            </a:r>
          </a:p>
          <a:p>
            <a:pPr marL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GO</a:t>
            </a:r>
          </a:p>
          <a:p>
            <a:pPr marL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US" sz="1400" dirty="0">
              <a:solidFill>
                <a:srgbClr val="0000F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USE [TIA]</a:t>
            </a:r>
          </a:p>
          <a:p>
            <a:pPr marL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GO</a:t>
            </a:r>
          </a:p>
          <a:p>
            <a:pPr marL="0" indent="0">
              <a:buNone/>
            </a:pPr>
            <a:endParaRPr lang="fr-CA" sz="1400" dirty="0">
              <a:solidFill>
                <a:srgbClr val="0000FF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14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CREATE</a:t>
            </a:r>
            <a:r>
              <a:rPr lang="fr-CA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sz="14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VIEW</a:t>
            </a:r>
            <a:r>
              <a:rPr lang="fr-CA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vw_SalesDetailsInfo </a:t>
            </a:r>
            <a:r>
              <a:rPr lang="fr-CA" sz="14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</a:t>
            </a:r>
            <a:endParaRPr lang="fr-CA" sz="1400" dirty="0">
              <a:solidFill>
                <a:prstClr val="black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SELECT</a:t>
            </a:r>
            <a:endParaRPr lang="fr-CA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75488" lvl="2" indent="0">
              <a:buNone/>
            </a:pP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p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[Name] </a:t>
            </a: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AS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'Product'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75488" lvl="2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pe1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LastName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', 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SUBSTRING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pe1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FirstName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'.'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'Customer'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75488" lvl="2" indent="0">
              <a:buNone/>
            </a:pPr>
            <a:r>
              <a:rPr lang="fr-CA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YEAR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soh</a:t>
            </a:r>
            <a:r>
              <a:rPr lang="fr-CA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OrderDate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AS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fr-CA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Year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75488" lvl="2" indent="0">
              <a:buNone/>
            </a:pPr>
            <a:r>
              <a:rPr lang="fr-CA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MONTH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soh</a:t>
            </a:r>
            <a:r>
              <a:rPr lang="fr-CA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OrderDate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AS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fr-CA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Month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75488" lvl="2" indent="0">
              <a:buNone/>
            </a:pP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sod</a:t>
            </a:r>
            <a:r>
              <a:rPr lang="fr-CA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OrderQty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AS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fr-CA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Ordered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quantity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75488" lvl="2" indent="0">
              <a:buNone/>
            </a:pP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sod</a:t>
            </a:r>
            <a:r>
              <a:rPr lang="fr-CA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LineTotal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AS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fr-CA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Cost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75488" lvl="2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pe2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LastName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', 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SUBSTRING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pe2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FirstName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'.'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'Sales Person'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14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from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AdventureWorks2014</a:t>
            </a:r>
            <a:r>
              <a:rPr lang="fr-CA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Sales</a:t>
            </a:r>
            <a:r>
              <a:rPr lang="fr-CA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SalesOrderDetail 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sod</a:t>
            </a:r>
            <a:endParaRPr lang="fr-CA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INNER JOIN 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AdventureWorks2014</a:t>
            </a:r>
            <a:r>
              <a:rPr lang="fr-CA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Sales</a:t>
            </a:r>
            <a:r>
              <a:rPr lang="fr-CA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SalesOrderHeader 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soh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ON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soh</a:t>
            </a:r>
            <a:r>
              <a:rPr lang="fr-CA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SalesOrderID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sod</a:t>
            </a:r>
            <a:r>
              <a:rPr lang="fr-CA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SalesOrderID</a:t>
            </a:r>
            <a:endParaRPr lang="fr-CA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INNER JOIN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AdventureWorks2014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Production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Product p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p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sod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ProductID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INNER JOIN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AdventureWorks2014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Sales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Customer c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CustomerID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soh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CustomerID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INNER JOIN 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AdventureWorks2014</a:t>
            </a:r>
            <a:r>
              <a:rPr lang="fr-CA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Person</a:t>
            </a:r>
            <a:r>
              <a:rPr lang="fr-CA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Person pe1 </a:t>
            </a:r>
            <a:r>
              <a:rPr lang="fr-CA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ON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pe1</a:t>
            </a:r>
            <a:r>
              <a:rPr lang="fr-CA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BusinessEntityID </a:t>
            </a:r>
            <a:r>
              <a:rPr lang="fr-CA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fr-CA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PersonID</a:t>
            </a:r>
            <a:endParaRPr lang="fr-CA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1400" cap="all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left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sz="1400" cap="all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join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AdventureWorks2014</a:t>
            </a:r>
            <a:r>
              <a:rPr lang="fr-CA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Sales</a:t>
            </a:r>
            <a:r>
              <a:rPr lang="fr-CA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SalesPerson 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sp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ON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sp</a:t>
            </a:r>
            <a:r>
              <a:rPr lang="fr-CA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BusinessEntityID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soh</a:t>
            </a:r>
            <a:r>
              <a:rPr lang="fr-CA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SalesPersonID</a:t>
            </a:r>
            <a:endParaRPr lang="fr-CA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en-US" sz="1400" cap="all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left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cap="all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join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AdventureWorks2014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Person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Person pe2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pe2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BusinessEntityID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BusinessEntityID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>
            <p:custDataLst>
              <p:tags r:id="rId2"/>
            </p:custDataLst>
          </p:nvPr>
        </p:nvSpPr>
        <p:spPr>
          <a:xfrm>
            <a:off x="90150" y="122749"/>
            <a:ext cx="2170090" cy="1158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" name="Rectangle à coins arrondis 3"/>
          <p:cNvSpPr/>
          <p:nvPr>
            <p:custDataLst>
              <p:tags r:id="rId3"/>
            </p:custDataLst>
          </p:nvPr>
        </p:nvSpPr>
        <p:spPr>
          <a:xfrm>
            <a:off x="3821635" y="212761"/>
            <a:ext cx="2939771" cy="1284872"/>
          </a:xfrm>
          <a:prstGeom prst="wedgeRoundRectCallout">
            <a:avLst>
              <a:gd name="adj1" fmla="val -102416"/>
              <a:gd name="adj2" fmla="val -14541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CA" sz="1600" dirty="0"/>
              <a:t>Pour créer des objets de base de données, veuillez utiliser une base de données différente de celle d'</a:t>
            </a:r>
            <a:r>
              <a:rPr lang="fr-CA" sz="1600" i="1" dirty="0" err="1"/>
              <a:t>AdventureWorks</a:t>
            </a:r>
            <a:r>
              <a:rPr lang="fr-CA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88436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Exercice</a:t>
            </a:r>
            <a:r>
              <a:rPr lang="en-US" dirty="0"/>
              <a:t> 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43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Consultez la vue créé précédemment (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vw_SalesDetailsInfo</a:t>
            </a:r>
            <a:r>
              <a:rPr lang="fr-CA" dirty="0">
                <a:solidFill>
                  <a:schemeClr val="tx1"/>
                </a:solidFill>
              </a:rPr>
              <a:t>) avec un simple 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fr-CA" dirty="0">
                <a:solidFill>
                  <a:schemeClr val="tx1"/>
                </a:solidFill>
              </a:rPr>
              <a:t> en limitant les résultats aux vendeurs dont le prénom commence par une ‘J’ (1 minute)</a:t>
            </a:r>
          </a:p>
          <a:p>
            <a:pPr>
              <a:buFont typeface="Arial" panose="020B0604020202020204" pitchFamily="34" charset="0"/>
              <a:buChar char="•"/>
            </a:pPr>
            <a:endParaRPr lang="fr-CA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vw_SalesDetailsInfo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SalesPerson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'%, J.'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2678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Fonctions prédéfinies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6122A42A-6D93-4D0A-AE23-55584C403684}" type="slidenum">
              <a:rPr lang="fr-CA" kern="0" smtClean="0"/>
              <a:pPr defTabSz="914400"/>
              <a:t>44</a:t>
            </a:fld>
            <a:endParaRPr lang="fr-CA" kern="0" dirty="0"/>
          </a:p>
        </p:txBody>
      </p:sp>
      <p:sp>
        <p:nvSpPr>
          <p:cNvPr id="7" name="Content Placeholder 2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Les fonctions prédéfinies (aussi dites scalaires) se font sur </a:t>
            </a:r>
            <a:r>
              <a:rPr lang="fr-CA" b="1" dirty="0">
                <a:solidFill>
                  <a:schemeClr val="tx1"/>
                </a:solidFill>
              </a:rPr>
              <a:t>une seule valeur </a:t>
            </a:r>
            <a:r>
              <a:rPr lang="fr-CA" dirty="0">
                <a:solidFill>
                  <a:schemeClr val="tx1"/>
                </a:solidFill>
              </a:rPr>
              <a:t>et affiche </a:t>
            </a:r>
            <a:r>
              <a:rPr lang="fr-CA" b="1" dirty="0">
                <a:solidFill>
                  <a:schemeClr val="tx1"/>
                </a:solidFill>
              </a:rPr>
              <a:t>une seule valeur </a:t>
            </a:r>
            <a:r>
              <a:rPr lang="fr-CA" dirty="0">
                <a:solidFill>
                  <a:schemeClr val="tx1"/>
                </a:solidFill>
              </a:rPr>
              <a:t>qui a été </a:t>
            </a:r>
            <a:r>
              <a:rPr lang="fr-CA" u="sng" dirty="0">
                <a:solidFill>
                  <a:schemeClr val="tx1"/>
                </a:solidFill>
              </a:rPr>
              <a:t>transformé d’un certain façon</a:t>
            </a:r>
            <a:r>
              <a:rPr lang="fr-CA" dirty="0">
                <a:solidFill>
                  <a:schemeClr val="tx1"/>
                </a:solidFill>
              </a:rPr>
              <a:t>. Il y a plusieurs types de fonctions scalaires qui peuvent agir sur différents types de données (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CA" dirty="0">
                <a:solidFill>
                  <a:schemeClr val="tx1"/>
                </a:solidFill>
              </a:rPr>
              <a:t>, 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fr-CA" dirty="0">
                <a:solidFill>
                  <a:schemeClr val="tx1"/>
                </a:solidFill>
              </a:rPr>
              <a:t>, 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fr-CA" dirty="0">
                <a:solidFill>
                  <a:schemeClr val="tx1"/>
                </a:solidFill>
              </a:rPr>
              <a:t>,…), nous étudierons toutefois uniquement celles-ci: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fr-CA" dirty="0">
                <a:solidFill>
                  <a:schemeClr val="tx1"/>
                </a:solidFill>
              </a:rPr>
              <a:t>Les fonctions sur les </a:t>
            </a:r>
            <a:r>
              <a:rPr lang="fr-CA" b="1" dirty="0">
                <a:solidFill>
                  <a:schemeClr val="tx1"/>
                </a:solidFill>
              </a:rPr>
              <a:t>dates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fr-CA" dirty="0">
                <a:solidFill>
                  <a:schemeClr val="tx1"/>
                </a:solidFill>
              </a:rPr>
              <a:t>Les fonctions </a:t>
            </a:r>
            <a:r>
              <a:rPr lang="fr-CA" b="1" dirty="0">
                <a:solidFill>
                  <a:schemeClr val="tx1"/>
                </a:solidFill>
              </a:rPr>
              <a:t>mathématiques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fr-CA" dirty="0">
                <a:solidFill>
                  <a:schemeClr val="tx1"/>
                </a:solidFill>
              </a:rPr>
              <a:t>Les fonctions sur les </a:t>
            </a:r>
            <a:r>
              <a:rPr lang="fr-CA" b="1" dirty="0">
                <a:solidFill>
                  <a:schemeClr val="tx1"/>
                </a:solidFill>
              </a:rPr>
              <a:t>chaînes de caractères </a:t>
            </a:r>
            <a:r>
              <a:rPr lang="fr-CA" dirty="0">
                <a:solidFill>
                  <a:schemeClr val="tx1"/>
                </a:solidFill>
              </a:rPr>
              <a:t>« strings »</a:t>
            </a:r>
          </a:p>
          <a:p>
            <a:pPr lvl="1">
              <a:buFont typeface="Symbol" panose="05050102010706020507" pitchFamily="18" charset="2"/>
              <a:buChar char="-"/>
            </a:pPr>
            <a:endParaRPr lang="fr-CA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Très utiles dans le contexte du processus ETL et, en particulier, au niveau de la </a:t>
            </a:r>
            <a:r>
              <a:rPr lang="fr-CA" b="1" dirty="0">
                <a:solidFill>
                  <a:schemeClr val="tx1"/>
                </a:solidFill>
              </a:rPr>
              <a:t>transformation</a:t>
            </a:r>
            <a:r>
              <a:rPr lang="fr-CA" dirty="0">
                <a:solidFill>
                  <a:schemeClr val="tx1"/>
                </a:solidFill>
              </a:rPr>
              <a:t> des données.</a:t>
            </a:r>
          </a:p>
        </p:txBody>
      </p:sp>
    </p:spTree>
    <p:extLst>
      <p:ext uri="{BB962C8B-B14F-4D97-AF65-F5344CB8AC3E}">
        <p14:creationId xmlns:p14="http://schemas.microsoft.com/office/powerpoint/2010/main" val="11666642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Fonctions scalaires (date)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6122A42A-6D93-4D0A-AE23-55584C403684}" type="slidenum">
              <a:rPr lang="fr-CA" kern="0" smtClean="0"/>
              <a:pPr defTabSz="914400"/>
              <a:t>45</a:t>
            </a:fld>
            <a:endParaRPr lang="fr-CA" kern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173524"/>
              </p:ext>
            </p:extLst>
          </p:nvPr>
        </p:nvGraphicFramePr>
        <p:xfrm>
          <a:off x="0" y="2111044"/>
          <a:ext cx="9144000" cy="406929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80743">
                  <a:extLst>
                    <a:ext uri="{9D8B030D-6E8A-4147-A177-3AD203B41FA5}">
                      <a16:colId xmlns:a16="http://schemas.microsoft.com/office/drawing/2014/main" val="647580226"/>
                    </a:ext>
                  </a:extLst>
                </a:gridCol>
                <a:gridCol w="5263257">
                  <a:extLst>
                    <a:ext uri="{9D8B030D-6E8A-4147-A177-3AD203B41FA5}">
                      <a16:colId xmlns:a16="http://schemas.microsoft.com/office/drawing/2014/main" val="946506795"/>
                    </a:ext>
                  </a:extLst>
                </a:gridCol>
              </a:tblGrid>
              <a:tr h="398448">
                <a:tc>
                  <a:txBody>
                    <a:bodyPr/>
                    <a:lstStyle/>
                    <a:p>
                      <a:r>
                        <a:rPr lang="fr-CA" dirty="0"/>
                        <a:t>Fonction (</a:t>
                      </a:r>
                      <a:r>
                        <a:rPr lang="fr-CA" dirty="0">
                          <a:hlinkClick r:id="rId3"/>
                        </a:rPr>
                        <a:t>Consultez la documentation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Résultat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021876"/>
                  </a:ext>
                </a:extLst>
              </a:tr>
              <a:tr h="398448">
                <a:tc>
                  <a:txBody>
                    <a:bodyPr/>
                    <a:lstStyle/>
                    <a:p>
                      <a:r>
                        <a:rPr lang="fr-CA" dirty="0"/>
                        <a:t>GETDATE()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Retourne la date de l’instance de SQL 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48">
                <a:tc>
                  <a:txBody>
                    <a:bodyPr/>
                    <a:lstStyle/>
                    <a:p>
                      <a:r>
                        <a:rPr lang="fr-CA" dirty="0"/>
                        <a:t>DATENAME(</a:t>
                      </a:r>
                      <a:r>
                        <a:rPr lang="fr-CA" sz="1800" b="0" i="1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</a:t>
                      </a:r>
                      <a:r>
                        <a:rPr lang="fr-CA" sz="18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date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Retourne une </a:t>
                      </a:r>
                      <a:r>
                        <a:rPr lang="fr-CA" dirty="0">
                          <a:solidFill>
                            <a:srgbClr val="FF0000"/>
                          </a:solidFill>
                        </a:rPr>
                        <a:t>chaîne</a:t>
                      </a:r>
                      <a:r>
                        <a:rPr lang="fr-CA" baseline="0" dirty="0">
                          <a:solidFill>
                            <a:srgbClr val="FF0000"/>
                          </a:solidFill>
                        </a:rPr>
                        <a:t> de caractère </a:t>
                      </a:r>
                      <a:r>
                        <a:rPr lang="fr-CA" baseline="0" dirty="0"/>
                        <a:t>(ex : Janvier, 2011, etc.)</a:t>
                      </a:r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602433"/>
                  </a:ext>
                </a:extLst>
              </a:tr>
              <a:tr h="398448">
                <a:tc>
                  <a:txBody>
                    <a:bodyPr/>
                    <a:lstStyle/>
                    <a:p>
                      <a:r>
                        <a:rPr lang="fr-CA" dirty="0"/>
                        <a:t>DATEPART(</a:t>
                      </a:r>
                      <a:r>
                        <a:rPr lang="fr-CA" i="1" dirty="0" err="1"/>
                        <a:t>month</a:t>
                      </a:r>
                      <a:r>
                        <a:rPr lang="fr-CA" dirty="0"/>
                        <a:t>, </a:t>
                      </a:r>
                      <a:r>
                        <a:rPr lang="fr-CA" i="1" dirty="0"/>
                        <a:t>date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Retourne</a:t>
                      </a:r>
                      <a:r>
                        <a:rPr lang="fr-CA" baseline="0" dirty="0"/>
                        <a:t> un </a:t>
                      </a:r>
                      <a:r>
                        <a:rPr lang="fr-CA" baseline="0" dirty="0">
                          <a:solidFill>
                            <a:srgbClr val="FF0000"/>
                          </a:solidFill>
                        </a:rPr>
                        <a:t>entier</a:t>
                      </a:r>
                      <a:r>
                        <a:rPr lang="fr-CA" baseline="0" dirty="0"/>
                        <a:t> (</a:t>
                      </a:r>
                      <a:r>
                        <a:rPr lang="fr-CA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fr-CA" baseline="0" dirty="0"/>
                        <a:t>) (ex : 12, pour décembre)</a:t>
                      </a:r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761014"/>
                  </a:ext>
                </a:extLst>
              </a:tr>
              <a:tr h="398448">
                <a:tc>
                  <a:txBody>
                    <a:bodyPr/>
                    <a:lstStyle/>
                    <a:p>
                      <a:r>
                        <a:rPr lang="fr-CA" dirty="0"/>
                        <a:t>DAY(</a:t>
                      </a:r>
                      <a:r>
                        <a:rPr lang="fr-CA" i="1" dirty="0"/>
                        <a:t>date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Retourne un entier (exemple :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51209"/>
                  </a:ext>
                </a:extLst>
              </a:tr>
              <a:tr h="398448">
                <a:tc>
                  <a:txBody>
                    <a:bodyPr/>
                    <a:lstStyle/>
                    <a:p>
                      <a:r>
                        <a:rPr lang="fr-CA" dirty="0"/>
                        <a:t>MONTH(</a:t>
                      </a:r>
                      <a:r>
                        <a:rPr lang="fr-CA" i="1" dirty="0"/>
                        <a:t>date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Retourne un entier (exemple : 12)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016494"/>
                  </a:ext>
                </a:extLst>
              </a:tr>
              <a:tr h="398448">
                <a:tc>
                  <a:txBody>
                    <a:bodyPr/>
                    <a:lstStyle/>
                    <a:p>
                      <a:r>
                        <a:rPr lang="fr-CA" dirty="0"/>
                        <a:t>YEAR(</a:t>
                      </a:r>
                      <a:r>
                        <a:rPr lang="fr-CA" i="1" dirty="0"/>
                        <a:t>date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Retourne un entier (exemple</a:t>
                      </a:r>
                      <a:r>
                        <a:rPr lang="fr-CA" baseline="0" dirty="0"/>
                        <a:t> : 2016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217898"/>
                  </a:ext>
                </a:extLst>
              </a:tr>
              <a:tr h="398448">
                <a:tc>
                  <a:txBody>
                    <a:bodyPr/>
                    <a:lstStyle/>
                    <a:p>
                      <a:r>
                        <a:rPr lang="fr-CA" dirty="0"/>
                        <a:t>DATEDIFF</a:t>
                      </a:r>
                      <a:r>
                        <a:rPr lang="fr-CA" i="1" dirty="0"/>
                        <a:t>( datepart,</a:t>
                      </a:r>
                      <a:r>
                        <a:rPr lang="fr-CA" i="1" baseline="0" dirty="0"/>
                        <a:t> startdate, enddate</a:t>
                      </a:r>
                      <a:r>
                        <a:rPr lang="fr-CA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Retourne</a:t>
                      </a:r>
                      <a:r>
                        <a:rPr lang="fr-CA" baseline="0" dirty="0"/>
                        <a:t> un entier</a:t>
                      </a:r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329558"/>
                  </a:ext>
                </a:extLst>
              </a:tr>
              <a:tr h="398448">
                <a:tc>
                  <a:txBody>
                    <a:bodyPr/>
                    <a:lstStyle/>
                    <a:p>
                      <a:r>
                        <a:rPr lang="fr-CA" i="0" dirty="0"/>
                        <a:t>DATEADD( </a:t>
                      </a:r>
                      <a:r>
                        <a:rPr lang="fr-CA" i="1" dirty="0" err="1"/>
                        <a:t>datepart</a:t>
                      </a:r>
                      <a:r>
                        <a:rPr lang="fr-CA" i="1" dirty="0"/>
                        <a:t>, </a:t>
                      </a:r>
                      <a:r>
                        <a:rPr lang="fr-CA" i="1" dirty="0" err="1"/>
                        <a:t>number</a:t>
                      </a:r>
                      <a:r>
                        <a:rPr lang="fr-CA" i="1" dirty="0"/>
                        <a:t>, date</a:t>
                      </a:r>
                      <a:r>
                        <a:rPr lang="fr-CA" i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Retourne un </a:t>
                      </a:r>
                      <a:r>
                        <a:rPr lang="fr-CA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datetime</a:t>
                      </a:r>
                      <a:endParaRPr lang="fr-CA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80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635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Fonctions</a:t>
            </a:r>
            <a:r>
              <a:rPr lang="en-US" dirty="0"/>
              <a:t> </a:t>
            </a:r>
            <a:r>
              <a:rPr lang="en-US" dirty="0" err="1"/>
              <a:t>scalaires</a:t>
            </a:r>
            <a:r>
              <a:rPr lang="en-US" dirty="0"/>
              <a:t> (date) (suite)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46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Comment trouver le nombre des jours écoulés depuis la date de commande?</a:t>
            </a:r>
          </a:p>
          <a:p>
            <a:pPr marL="0" indent="0">
              <a:buNone/>
            </a:pPr>
            <a:r>
              <a:rPr lang="fr-CA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	</a:t>
            </a:r>
            <a:r>
              <a:rPr lang="fr-CA" sz="18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OrderDate</a:t>
            </a:r>
            <a:endParaRPr lang="fr-CA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CA" sz="18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1800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getdate</a:t>
            </a:r>
            <a:r>
              <a:rPr lang="fr-CA" sz="18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fr-CA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CA" sz="18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1800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datediff</a:t>
            </a:r>
            <a:r>
              <a:rPr lang="fr-CA" sz="1800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1800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day</a:t>
            </a:r>
            <a:r>
              <a:rPr lang="fr-CA" sz="18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8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OrderDate</a:t>
            </a:r>
            <a:r>
              <a:rPr lang="fr-CA" sz="18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800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getdate</a:t>
            </a:r>
            <a:r>
              <a:rPr lang="fr-CA" sz="18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endParaRPr lang="fr-CA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1800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8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fr-CA" sz="1800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8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SalesOrderHeader</a:t>
            </a:r>
            <a:endParaRPr lang="fr-CA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CA" dirty="0">
              <a:solidFill>
                <a:prstClr val="black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prstClr val="black"/>
                </a:solidFill>
              </a:rPr>
              <a:t>Comment </a:t>
            </a:r>
            <a:r>
              <a:rPr lang="fr-CA" dirty="0">
                <a:solidFill>
                  <a:srgbClr val="FF0000"/>
                </a:solidFill>
              </a:rPr>
              <a:t>extraire des détails </a:t>
            </a:r>
            <a:r>
              <a:rPr lang="fr-CA" dirty="0">
                <a:solidFill>
                  <a:prstClr val="black"/>
                </a:solidFill>
              </a:rPr>
              <a:t>pour la journée en cours?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datepart</a:t>
            </a:r>
            <a:r>
              <a:rPr lang="en-US" sz="1800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cap="all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day</a:t>
            </a:r>
            <a:r>
              <a:rPr lang="en-US" sz="18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getdate</a:t>
            </a:r>
            <a:r>
              <a:rPr lang="en-US" sz="18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'Day'</a:t>
            </a:r>
            <a:endParaRPr lang="en-US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,</a:t>
            </a:r>
            <a:r>
              <a:rPr lang="en-US" sz="1800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datepart</a:t>
            </a:r>
            <a:r>
              <a:rPr lang="en-US" sz="1800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dayofyear</a:t>
            </a:r>
            <a:r>
              <a:rPr lang="en-US" sz="18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getdate</a:t>
            </a:r>
            <a:r>
              <a:rPr lang="en-US" sz="18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'Day of year'</a:t>
            </a:r>
            <a:endParaRPr lang="en-US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,</a:t>
            </a:r>
            <a:r>
              <a:rPr lang="en-US" sz="1800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datepart</a:t>
            </a:r>
            <a:r>
              <a:rPr lang="en-US" sz="1800" cap="all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weekday</a:t>
            </a:r>
            <a:r>
              <a:rPr lang="en-US" sz="18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cap="all" dirty="0" err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getdate</a:t>
            </a:r>
            <a:r>
              <a:rPr lang="en-US" sz="18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'Day of week'</a:t>
            </a:r>
          </a:p>
        </p:txBody>
      </p:sp>
    </p:spTree>
    <p:extLst>
      <p:ext uri="{BB962C8B-B14F-4D97-AF65-F5344CB8AC3E}">
        <p14:creationId xmlns:p14="http://schemas.microsoft.com/office/powerpoint/2010/main" val="12206453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Fonctions</a:t>
            </a:r>
            <a:r>
              <a:rPr lang="en-US" dirty="0"/>
              <a:t> </a:t>
            </a:r>
            <a:r>
              <a:rPr lang="en-US" dirty="0" err="1"/>
              <a:t>scalaires</a:t>
            </a:r>
            <a:r>
              <a:rPr lang="en-US" dirty="0"/>
              <a:t> (date) (suite)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47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80911" y="1935781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Comment afficher les valeurs associées avec tous les différents parties possibles de la date de commande?</a:t>
            </a:r>
          </a:p>
          <a:p>
            <a:pPr marL="292608" lvl="1" indent="0">
              <a:buNone/>
            </a:pP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OrderDate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84048" lvl="2" indent="0">
              <a:buNone/>
            </a:pP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cap="all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datepart</a:t>
            </a:r>
            <a:r>
              <a:rPr lang="fr-CA" sz="1800" cap="all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sz="1800" cap="all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year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OrderDate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fr-CA" sz="1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Year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84048" lvl="2" indent="0">
              <a:buNone/>
            </a:pP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cap="all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datepart</a:t>
            </a:r>
            <a:r>
              <a:rPr lang="fr-CA" sz="1800" cap="all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sz="1800" cap="all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quarter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OrderDate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'Quarter'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84048" lvl="2" indent="0">
              <a:buNone/>
            </a:pP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cap="all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datename</a:t>
            </a:r>
            <a:r>
              <a:rPr lang="fr-CA" sz="1800" cap="all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sz="1800" cap="all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month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OrderDate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fr-CA" sz="1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Month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84048" lvl="2" indent="0">
              <a:buNone/>
            </a:pP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cap="all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datepart</a:t>
            </a:r>
            <a:r>
              <a:rPr lang="fr-CA" sz="1800" cap="all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sz="1800" cap="all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day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OrderDate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'Day'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84048" lvl="2" indent="0">
              <a:buNone/>
            </a:pP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cap="all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datepart</a:t>
            </a:r>
            <a:r>
              <a:rPr lang="fr-CA" sz="1800" cap="all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sz="1800" cap="all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week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OrderDate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fr-CA" sz="1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Week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84048" lvl="2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cap="all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datename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[weekday]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OrderDate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'Weekday'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84048" lvl="2" indent="0">
              <a:buNone/>
            </a:pP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cap="all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datepart</a:t>
            </a:r>
            <a:r>
              <a:rPr lang="fr-CA" sz="1800" cap="all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sz="1800" cap="all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hour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OrderDate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fr-CA" sz="1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Hour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84048" lvl="2" indent="0">
              <a:buNone/>
            </a:pP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cap="all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datepart</a:t>
            </a:r>
            <a:r>
              <a:rPr lang="fr-CA" sz="1800" cap="all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sz="1800" cap="all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minute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OrderDate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'Minute'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84048" lvl="2" indent="0">
              <a:buNone/>
            </a:pP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cap="all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datepart</a:t>
            </a:r>
            <a:r>
              <a:rPr lang="fr-CA" sz="1800" cap="all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sz="1800" cap="all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second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OrderDate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'Second'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</a:t>
            </a:r>
            <a:r>
              <a:rPr lang="fr-CA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SalesOrderHeader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6" name="Rectangle à coins arrondis 5"/>
          <p:cNvSpPr/>
          <p:nvPr>
            <p:custDataLst>
              <p:tags r:id="rId4"/>
            </p:custDataLst>
          </p:nvPr>
        </p:nvSpPr>
        <p:spPr>
          <a:xfrm>
            <a:off x="125401" y="2917065"/>
            <a:ext cx="904909" cy="824248"/>
          </a:xfrm>
          <a:prstGeom prst="wedgeRoundRectCallout">
            <a:avLst>
              <a:gd name="adj1" fmla="val 85484"/>
              <a:gd name="adj2" fmla="val 37792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CA" sz="1200" dirty="0"/>
              <a:t>Chaîne de caractère c.à.d., </a:t>
            </a:r>
            <a:r>
              <a:rPr lang="fr-CA" sz="1200" i="1" dirty="0"/>
              <a:t>Janvier</a:t>
            </a:r>
          </a:p>
        </p:txBody>
      </p:sp>
      <p:sp>
        <p:nvSpPr>
          <p:cNvPr id="7" name="Rectangle à coins arrondis 6"/>
          <p:cNvSpPr/>
          <p:nvPr>
            <p:custDataLst>
              <p:tags r:id="rId5"/>
            </p:custDataLst>
          </p:nvPr>
        </p:nvSpPr>
        <p:spPr>
          <a:xfrm>
            <a:off x="125400" y="4653566"/>
            <a:ext cx="904909" cy="824248"/>
          </a:xfrm>
          <a:prstGeom prst="wedgeRoundRectCallout">
            <a:avLst>
              <a:gd name="adj1" fmla="val 81214"/>
              <a:gd name="adj2" fmla="val -54396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CA" sz="1200" dirty="0"/>
              <a:t>Chaîne de caractère c.à.d., </a:t>
            </a:r>
            <a:r>
              <a:rPr lang="fr-CA" sz="1200" i="1" dirty="0"/>
              <a:t>Mardi</a:t>
            </a:r>
          </a:p>
        </p:txBody>
      </p:sp>
    </p:spTree>
    <p:extLst>
      <p:ext uri="{BB962C8B-B14F-4D97-AF65-F5344CB8AC3E}">
        <p14:creationId xmlns:p14="http://schemas.microsoft.com/office/powerpoint/2010/main" val="40715416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Fonctions scalaires (math)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6122A42A-6D93-4D0A-AE23-55584C403684}" type="slidenum">
              <a:rPr lang="fr-CA" kern="0" smtClean="0"/>
              <a:pPr defTabSz="914400"/>
              <a:t>48</a:t>
            </a:fld>
            <a:endParaRPr lang="fr-CA" kern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811384"/>
              </p:ext>
            </p:extLst>
          </p:nvPr>
        </p:nvGraphicFramePr>
        <p:xfrm>
          <a:off x="0" y="2103175"/>
          <a:ext cx="9144000" cy="159379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80743">
                  <a:extLst>
                    <a:ext uri="{9D8B030D-6E8A-4147-A177-3AD203B41FA5}">
                      <a16:colId xmlns:a16="http://schemas.microsoft.com/office/drawing/2014/main" val="647580226"/>
                    </a:ext>
                  </a:extLst>
                </a:gridCol>
                <a:gridCol w="5263257">
                  <a:extLst>
                    <a:ext uri="{9D8B030D-6E8A-4147-A177-3AD203B41FA5}">
                      <a16:colId xmlns:a16="http://schemas.microsoft.com/office/drawing/2014/main" val="946506795"/>
                    </a:ext>
                  </a:extLst>
                </a:gridCol>
              </a:tblGrid>
              <a:tr h="398448">
                <a:tc>
                  <a:txBody>
                    <a:bodyPr/>
                    <a:lstStyle/>
                    <a:p>
                      <a:r>
                        <a:rPr lang="fr-CA" dirty="0"/>
                        <a:t>Fonction (</a:t>
                      </a:r>
                      <a:r>
                        <a:rPr lang="fr-CA" dirty="0">
                          <a:hlinkClick r:id="rId3"/>
                        </a:rPr>
                        <a:t>Consultez la documentation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Résultat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021876"/>
                  </a:ext>
                </a:extLst>
              </a:tr>
              <a:tr h="398448">
                <a:tc>
                  <a:txBody>
                    <a:bodyPr/>
                    <a:lstStyle/>
                    <a:p>
                      <a:r>
                        <a:rPr lang="fr-CA" i="0" dirty="0"/>
                        <a:t>ROUND(</a:t>
                      </a:r>
                      <a:r>
                        <a:rPr lang="fr-CA" dirty="0" err="1"/>
                        <a:t>numeric_expression</a:t>
                      </a:r>
                      <a:r>
                        <a:rPr lang="fr-CA" dirty="0"/>
                        <a:t> , length</a:t>
                      </a:r>
                      <a:r>
                        <a:rPr lang="fr-CA" i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Arrondi, au nombre après la virgule</a:t>
                      </a:r>
                      <a:r>
                        <a:rPr lang="fr-CA" baseline="0" dirty="0"/>
                        <a:t> désiré</a:t>
                      </a:r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045357"/>
                  </a:ext>
                </a:extLst>
              </a:tr>
              <a:tr h="398448">
                <a:tc>
                  <a:txBody>
                    <a:bodyPr/>
                    <a:lstStyle/>
                    <a:p>
                      <a:r>
                        <a:rPr lang="fr-CA" dirty="0"/>
                        <a:t>CEILING(</a:t>
                      </a:r>
                      <a:r>
                        <a:rPr lang="fr-CA" dirty="0" err="1"/>
                        <a:t>numeric_expression</a:t>
                      </a:r>
                      <a:r>
                        <a:rPr lang="fr-CA" dirty="0"/>
                        <a:t>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Arrondi à l’entier supérieur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602433"/>
                  </a:ext>
                </a:extLst>
              </a:tr>
              <a:tr h="398448">
                <a:tc>
                  <a:txBody>
                    <a:bodyPr/>
                    <a:lstStyle/>
                    <a:p>
                      <a:r>
                        <a:rPr lang="fr-CA" dirty="0"/>
                        <a:t>FLOOR(</a:t>
                      </a:r>
                      <a:r>
                        <a:rPr lang="fr-CA" dirty="0" err="1"/>
                        <a:t>numeric_expression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Arrondi</a:t>
                      </a:r>
                      <a:r>
                        <a:rPr lang="fr-CA" baseline="0" dirty="0"/>
                        <a:t> à l’entier inférieur</a:t>
                      </a:r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76101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1" y="5239297"/>
            <a:ext cx="7513319" cy="9893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CA" dirty="0">
                <a:solidFill>
                  <a:schemeClr val="tx1"/>
                </a:solidFill>
              </a:rPr>
              <a:t>Pour contraindre l’affichage des types DECIMAL au nombre de chiffre après la virgule, on pourra aussi utiliser une fonction de conversion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  <a:hlinkClick r:id="rId4"/>
              </a:rPr>
              <a:t>CAST (standard SQL)</a:t>
            </a:r>
            <a:endParaRPr lang="fr-C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7759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Fonctions</a:t>
            </a:r>
            <a:r>
              <a:rPr lang="en-US" dirty="0"/>
              <a:t> </a:t>
            </a:r>
            <a:r>
              <a:rPr lang="en-US" dirty="0" err="1"/>
              <a:t>scalaires</a:t>
            </a:r>
            <a:r>
              <a:rPr lang="en-US" dirty="0"/>
              <a:t> (math) (suite)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49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Écrire une requête qui arrondi </a:t>
            </a:r>
            <a:r>
              <a:rPr lang="fr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SalesOrderHeader.SubTotal</a:t>
            </a:r>
            <a:r>
              <a:rPr lang="fr-CA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fr-CA" dirty="0">
                <a:solidFill>
                  <a:schemeClr val="tx1"/>
                </a:solidFill>
              </a:rPr>
              <a:t>de différents façons.</a:t>
            </a:r>
          </a:p>
          <a:p>
            <a:pPr marL="292608" lvl="1" indent="0">
              <a:buNone/>
            </a:pPr>
            <a:endParaRPr lang="fr-CA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SubTotal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pt-BR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CAST</a:t>
            </a:r>
            <a:r>
              <a:rPr lang="pt-BR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SubTotal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DECIMAL</a:t>
            </a:r>
            <a:r>
              <a:rPr lang="pt-BR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15</a:t>
            </a:r>
            <a:r>
              <a:rPr lang="pt-BR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2</a:t>
            </a:r>
            <a:r>
              <a:rPr lang="pt-BR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'CAST(SubTotal AS decimal(15, 2))'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ROUND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SubTotal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2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'ROUND(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SubTotal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2)'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ROUND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SubTotal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'ROUND(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SubTotal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1)'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CEILING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SubTotal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'CEILING(</a:t>
            </a:r>
            <a:r>
              <a:rPr lang="fr-CA" sz="1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SubTotal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)'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FLOOR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SubTotal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'FLOOR(</a:t>
            </a:r>
            <a:r>
              <a:rPr lang="fr-CA" sz="1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SubTotal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)'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</a:t>
            </a:r>
            <a:r>
              <a:rPr lang="fr-CA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SalesOrderHeader</a:t>
            </a:r>
            <a:endParaRPr lang="fr-CA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8055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Fonctions scalaires (string)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6122A42A-6D93-4D0A-AE23-55584C403684}" type="slidenum">
              <a:rPr lang="fr-CA" kern="0" smtClean="0"/>
              <a:pPr defTabSz="914400"/>
              <a:t>50</a:t>
            </a:fld>
            <a:endParaRPr lang="fr-CA" kern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376027"/>
              </p:ext>
            </p:extLst>
          </p:nvPr>
        </p:nvGraphicFramePr>
        <p:xfrm>
          <a:off x="0" y="1960825"/>
          <a:ext cx="9144000" cy="393412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51238">
                  <a:extLst>
                    <a:ext uri="{9D8B030D-6E8A-4147-A177-3AD203B41FA5}">
                      <a16:colId xmlns:a16="http://schemas.microsoft.com/office/drawing/2014/main" val="647580226"/>
                    </a:ext>
                  </a:extLst>
                </a:gridCol>
                <a:gridCol w="5292762">
                  <a:extLst>
                    <a:ext uri="{9D8B030D-6E8A-4147-A177-3AD203B41FA5}">
                      <a16:colId xmlns:a16="http://schemas.microsoft.com/office/drawing/2014/main" val="9465067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CA" dirty="0"/>
                        <a:t>Fonction (</a:t>
                      </a:r>
                      <a:r>
                        <a:rPr lang="fr-CA" dirty="0">
                          <a:hlinkClick r:id="rId3"/>
                        </a:rPr>
                        <a:t>Consultez la documentation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Résultat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021876"/>
                  </a:ext>
                </a:extLst>
              </a:tr>
              <a:tr h="212278">
                <a:tc>
                  <a:txBody>
                    <a:bodyPr/>
                    <a:lstStyle/>
                    <a:p>
                      <a:r>
                        <a:rPr lang="fr-CA" sz="1400" dirty="0"/>
                        <a:t>LEN( </a:t>
                      </a:r>
                      <a:r>
                        <a:rPr lang="fr-CA" sz="1400" dirty="0" err="1"/>
                        <a:t>string_expression</a:t>
                      </a:r>
                      <a:r>
                        <a:rPr lang="fr-CA" sz="1400" dirty="0"/>
                        <a:t>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Retourne le nombre de caractères d’une chaîne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467109"/>
                  </a:ext>
                </a:extLst>
              </a:tr>
              <a:tr h="348541">
                <a:tc>
                  <a:txBody>
                    <a:bodyPr/>
                    <a:lstStyle/>
                    <a:p>
                      <a:r>
                        <a:rPr lang="fr-CA" sz="1400" dirty="0"/>
                        <a:t>CHARINDEX( </a:t>
                      </a:r>
                      <a:r>
                        <a:rPr lang="fr-CA" sz="1400" dirty="0" err="1"/>
                        <a:t>expressionToFind</a:t>
                      </a:r>
                      <a:r>
                        <a:rPr lang="fr-CA" sz="1400" dirty="0"/>
                        <a:t> , </a:t>
                      </a:r>
                      <a:r>
                        <a:rPr lang="fr-CA" sz="1400" dirty="0" err="1"/>
                        <a:t>expressionToSearch</a:t>
                      </a:r>
                      <a:r>
                        <a:rPr lang="fr-CA" sz="1400" dirty="0"/>
                        <a:t> [ , </a:t>
                      </a:r>
                      <a:r>
                        <a:rPr lang="fr-CA" sz="1400" dirty="0" err="1"/>
                        <a:t>start_location</a:t>
                      </a:r>
                      <a:r>
                        <a:rPr lang="fr-CA" sz="1400" dirty="0"/>
                        <a:t> ]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Recherche une expression dans une</a:t>
                      </a:r>
                      <a:r>
                        <a:rPr lang="fr-CA" sz="1400" baseline="0" dirty="0"/>
                        <a:t> chaîne de caractères</a:t>
                      </a:r>
                      <a:r>
                        <a:rPr lang="fr-CA" sz="1400" dirty="0"/>
                        <a:t> et retourne l’index de début de l’expression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629455"/>
                  </a:ext>
                </a:extLst>
              </a:tr>
              <a:tr h="260687">
                <a:tc>
                  <a:txBody>
                    <a:bodyPr/>
                    <a:lstStyle/>
                    <a:p>
                      <a:r>
                        <a:rPr lang="fr-CA" sz="1400" dirty="0"/>
                        <a:t>CONCAT( string_value1, string_value2 [, </a:t>
                      </a:r>
                      <a:r>
                        <a:rPr lang="fr-CA" sz="1400" dirty="0" err="1"/>
                        <a:t>string_valueN</a:t>
                      </a:r>
                      <a:r>
                        <a:rPr lang="fr-CA" sz="1400" dirty="0"/>
                        <a:t> ]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Concatène deux (ou plus) chaînes de caractères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279138"/>
                  </a:ext>
                </a:extLst>
              </a:tr>
              <a:tr h="398448">
                <a:tc>
                  <a:txBody>
                    <a:bodyPr/>
                    <a:lstStyle/>
                    <a:p>
                      <a:r>
                        <a:rPr lang="fr-CA" sz="1400" dirty="0"/>
                        <a:t>SUBSTRING( expression, </a:t>
                      </a:r>
                      <a:r>
                        <a:rPr lang="fr-CA" sz="1400" dirty="0" err="1"/>
                        <a:t>start</a:t>
                      </a:r>
                      <a:r>
                        <a:rPr lang="fr-CA" sz="1400" dirty="0"/>
                        <a:t>, </a:t>
                      </a:r>
                      <a:r>
                        <a:rPr lang="fr-CA" sz="1400" dirty="0" err="1"/>
                        <a:t>length</a:t>
                      </a:r>
                      <a:r>
                        <a:rPr lang="fr-CA" sz="1400" dirty="0"/>
                        <a:t>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Retourne la chaîne de caractère de</a:t>
                      </a:r>
                      <a:r>
                        <a:rPr lang="fr-CA" sz="1400" baseline="0" dirty="0"/>
                        <a:t> longueur </a:t>
                      </a:r>
                      <a:r>
                        <a:rPr lang="fr-CA" sz="1400" i="1" baseline="0" dirty="0"/>
                        <a:t>length</a:t>
                      </a:r>
                      <a:r>
                        <a:rPr lang="fr-CA" sz="1400" dirty="0"/>
                        <a:t> débutant à </a:t>
                      </a:r>
                      <a:r>
                        <a:rPr lang="fr-CA" sz="1400" i="1" dirty="0" err="1"/>
                        <a:t>start</a:t>
                      </a:r>
                      <a:endParaRPr lang="fr-CA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048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CA" sz="1400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Retourne la partie de gauche d’une chaîne,</a:t>
                      </a:r>
                      <a:r>
                        <a:rPr lang="fr-CA" sz="1400" baseline="0" dirty="0"/>
                        <a:t> d’une longueur donnée</a:t>
                      </a:r>
                      <a:endParaRPr lang="fr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16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CA" sz="1400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Retourne la partie de droite d’une chaîne,</a:t>
                      </a:r>
                      <a:r>
                        <a:rPr lang="fr-CA" sz="1400" baseline="0" dirty="0"/>
                        <a:t> d’une longueur donnée</a:t>
                      </a:r>
                      <a:endParaRPr lang="fr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076790"/>
                  </a:ext>
                </a:extLst>
              </a:tr>
              <a:tr h="134235">
                <a:tc>
                  <a:txBody>
                    <a:bodyPr/>
                    <a:lstStyle/>
                    <a:p>
                      <a:r>
                        <a:rPr lang="fr-CA" sz="1400" dirty="0"/>
                        <a:t>UPPER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Retourne</a:t>
                      </a:r>
                      <a:r>
                        <a:rPr lang="fr-CA" sz="1400" baseline="0" dirty="0"/>
                        <a:t> la chaîne de caractères en majuscule</a:t>
                      </a:r>
                      <a:endParaRPr lang="fr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522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CA" sz="1400" dirty="0"/>
                        <a:t>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Retourne</a:t>
                      </a:r>
                      <a:r>
                        <a:rPr lang="fr-CA" sz="1400" baseline="0" dirty="0"/>
                        <a:t> la chaîne de caractères en minuscule</a:t>
                      </a:r>
                      <a:endParaRPr lang="fr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887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CA" sz="1400" dirty="0"/>
                        <a:t>LTRIM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Retire</a:t>
                      </a:r>
                      <a:r>
                        <a:rPr lang="fr-CA" sz="1400" baseline="0" dirty="0"/>
                        <a:t> tous les NULL à gauche d’une chaîne de caractères</a:t>
                      </a:r>
                      <a:endParaRPr lang="fr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040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CA" sz="1400" dirty="0"/>
                        <a:t>RTRIM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 dirty="0"/>
                        <a:t>Retire</a:t>
                      </a:r>
                      <a:r>
                        <a:rPr lang="fr-CA" sz="1400" baseline="0" dirty="0"/>
                        <a:t> tous les NULL à droite d’une chaîne de caractères</a:t>
                      </a:r>
                      <a:endParaRPr lang="fr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118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01712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Fonctions</a:t>
            </a:r>
            <a:r>
              <a:rPr lang="en-US" dirty="0"/>
              <a:t> </a:t>
            </a:r>
            <a:r>
              <a:rPr lang="en-US" dirty="0" err="1"/>
              <a:t>scalaires</a:t>
            </a:r>
            <a:r>
              <a:rPr lang="en-US" dirty="0"/>
              <a:t> (string) (suite)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51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Pour le champ </a:t>
            </a:r>
            <a:r>
              <a:rPr lang="fr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Production.ProductDescription</a:t>
            </a:r>
            <a:r>
              <a:rPr lang="fr-CA" dirty="0">
                <a:solidFill>
                  <a:schemeClr val="tx1"/>
                </a:solidFill>
              </a:rPr>
              <a:t>, calculer la moyenne de la longueur du champ, la longueur maximale et la longueur minimale.</a:t>
            </a:r>
          </a:p>
          <a:p>
            <a:pPr marL="0" indent="0">
              <a:buNone/>
            </a:pPr>
            <a:r>
              <a:rPr lang="fr-CA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marL="292608" lvl="1" indent="0">
              <a:buNone/>
            </a:pPr>
            <a:r>
              <a:rPr lang="fr-CA" sz="20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0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fr-CA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fr-CA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Description </a:t>
            </a:r>
            <a:r>
              <a:rPr lang="fr-CA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fr-CA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fr-CA" sz="20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0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0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'Max Description </a:t>
            </a:r>
            <a:r>
              <a:rPr lang="fr-CA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fr-CA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fr-CA" sz="20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0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0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'Min Description </a:t>
            </a:r>
            <a:r>
              <a:rPr lang="fr-CA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fr-CA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fr-CA" sz="20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Production</a:t>
            </a:r>
            <a:r>
              <a:rPr lang="fr-CA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ProductDescription</a:t>
            </a:r>
            <a:endParaRPr lang="fr-CA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5758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Fonctions</a:t>
            </a:r>
            <a:r>
              <a:rPr lang="en-US" dirty="0"/>
              <a:t> </a:t>
            </a:r>
            <a:r>
              <a:rPr lang="en-US" dirty="0" err="1"/>
              <a:t>scalaires</a:t>
            </a:r>
            <a:r>
              <a:rPr lang="en-US" dirty="0"/>
              <a:t> (string) (suite)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52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Lorsqu’on a concaténé le titre et le nom d’une personne, un caractère en trop est présent lorsque le titre est 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fr-CA" dirty="0">
                <a:solidFill>
                  <a:schemeClr val="tx1"/>
                </a:solidFill>
              </a:rPr>
              <a:t>. Enlever ce caractère.</a:t>
            </a:r>
          </a:p>
          <a:p>
            <a:pPr marL="0" indent="0">
              <a:buNone/>
            </a:pPr>
            <a:endParaRPr lang="fr-CA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CA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fr-CA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endParaRPr lang="fr-CA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0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CONCAT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'Sans LTRIM'</a:t>
            </a:r>
            <a:endParaRPr lang="fr-CA" sz="20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0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LTRIM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000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CONCAT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'Avec LTRIM'</a:t>
            </a:r>
            <a:endParaRPr lang="fr-CA" sz="20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fr-CA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endParaRPr lang="fr-CA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8338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Fonctions</a:t>
            </a:r>
            <a:r>
              <a:rPr lang="en-US" dirty="0"/>
              <a:t> </a:t>
            </a:r>
            <a:r>
              <a:rPr lang="en-US" dirty="0" err="1"/>
              <a:t>scalaires</a:t>
            </a:r>
            <a:r>
              <a:rPr lang="en-US" dirty="0"/>
              <a:t> (string) (suite)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53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Pour créer de nouveaux codes d'utilisateur, nous devons </a:t>
            </a:r>
            <a:r>
              <a:rPr lang="fr-CA" dirty="0">
                <a:solidFill>
                  <a:srgbClr val="FF0000"/>
                </a:solidFill>
              </a:rPr>
              <a:t>isoler et concaténer les trois premières lettres du nom de famille d'un utilisateur avec la première lettre de son prénom</a:t>
            </a:r>
            <a:r>
              <a:rPr lang="fr-CA" dirty="0">
                <a:solidFill>
                  <a:schemeClr val="tx1"/>
                </a:solidFill>
              </a:rPr>
              <a:t>. Le résultat doit être affiché en majuscule. </a:t>
            </a:r>
          </a:p>
          <a:p>
            <a:pPr marL="292608" lvl="1" indent="0">
              <a:buNone/>
            </a:pP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distinct</a:t>
            </a:r>
            <a:endParaRPr lang="fr-CA" cap="all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LastName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FirstName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SUBSTRING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LastName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3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SUBSTRING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FirstName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</a:t>
            </a:r>
            <a:r>
              <a:rPr lang="fr-CA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SUBSTRING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LastName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3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SUBSTRING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FirstName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)),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UPPER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SUBSTRING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LastName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3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SUBSTRING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FirstName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Person</a:t>
            </a:r>
            <a:r>
              <a:rPr lang="fr-CA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Person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1602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Fonctions</a:t>
            </a:r>
            <a:r>
              <a:rPr lang="en-US" dirty="0"/>
              <a:t> </a:t>
            </a:r>
            <a:r>
              <a:rPr lang="en-US" dirty="0" err="1"/>
              <a:t>scalaires</a:t>
            </a:r>
            <a:r>
              <a:rPr lang="en-US" dirty="0"/>
              <a:t> (string) (suite)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54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Selon le contexte du problème, il n’est pas toujours nécessaire d'utiliser 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CONCAT</a:t>
            </a:r>
            <a:r>
              <a:rPr lang="fr-CA" dirty="0">
                <a:solidFill>
                  <a:schemeClr val="tx1"/>
                </a:solidFill>
              </a:rPr>
              <a:t> pour fusionner du texte. </a:t>
            </a:r>
            <a:r>
              <a:rPr lang="fr-CA" dirty="0">
                <a:solidFill>
                  <a:srgbClr val="FF0000"/>
                </a:solidFill>
              </a:rPr>
              <a:t>Mais des précautions supplémentaires doivent être prises.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CA" dirty="0">
              <a:solidFill>
                <a:schemeClr val="tx1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fr-CA" dirty="0">
                <a:solidFill>
                  <a:schemeClr val="tx1"/>
                </a:solidFill>
              </a:rPr>
              <a:t>À l’aide d’ une requête, afficher </a:t>
            </a:r>
            <a:r>
              <a:rPr lang="fr-CA" dirty="0">
                <a:solidFill>
                  <a:srgbClr val="FF0000"/>
                </a:solidFill>
              </a:rPr>
              <a:t>une phrase </a:t>
            </a:r>
            <a:r>
              <a:rPr lang="fr-CA" dirty="0">
                <a:solidFill>
                  <a:schemeClr val="tx1"/>
                </a:solidFill>
              </a:rPr>
              <a:t>qui mentionne le nombre total de commandes faites en 2014</a:t>
            </a:r>
          </a:p>
          <a:p>
            <a:pPr marL="292608" lvl="1" indent="0">
              <a:buNone/>
            </a:pPr>
            <a:endParaRPr lang="fr-CA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'Il y a eu '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CAST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COUNT(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*)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AS </a:t>
            </a:r>
            <a:r>
              <a:rPr lang="fr-CA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nvarchar</a:t>
            </a:r>
            <a:r>
              <a:rPr lang="fr-CA" cap="all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cap="al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 commandes faites en 2014. And </a:t>
            </a:r>
            <a:r>
              <a:rPr lang="fr-CA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now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you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know!'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</a:t>
            </a:r>
            <a:r>
              <a:rPr lang="fr-CA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SalesOrderHeader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292608" lvl="1" indent="0">
              <a:buNone/>
            </a:pPr>
            <a:r>
              <a:rPr lang="fr-CA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where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YEAR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OrderDate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2014</a:t>
            </a:r>
            <a:endParaRPr lang="fr-CA" dirty="0">
              <a:solidFill>
                <a:schemeClr val="tx1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1808" y="5567898"/>
            <a:ext cx="3086100" cy="371475"/>
          </a:xfrm>
          <a:prstGeom prst="rect">
            <a:avLst/>
          </a:prstGeom>
        </p:spPr>
      </p:pic>
      <p:sp>
        <p:nvSpPr>
          <p:cNvPr id="7" name="Rectangle 6"/>
          <p:cNvSpPr/>
          <p:nvPr>
            <p:custDataLst>
              <p:tags r:id="rId4"/>
            </p:custDataLst>
          </p:nvPr>
        </p:nvSpPr>
        <p:spPr>
          <a:xfrm>
            <a:off x="3840879" y="4004654"/>
            <a:ext cx="3822051" cy="3411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0193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55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L’opérateur 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fr-CA" dirty="0">
                <a:solidFill>
                  <a:schemeClr val="tx1"/>
                </a:solidFill>
              </a:rPr>
              <a:t> permet de faire un </a:t>
            </a:r>
            <a:r>
              <a:rPr lang="fr-CA" b="1" dirty="0">
                <a:solidFill>
                  <a:schemeClr val="tx1"/>
                </a:solidFill>
              </a:rPr>
              <a:t>ensemble de comparaisons</a:t>
            </a:r>
            <a:r>
              <a:rPr lang="fr-CA" dirty="0">
                <a:solidFill>
                  <a:schemeClr val="tx1"/>
                </a:solidFill>
              </a:rPr>
              <a:t> et de </a:t>
            </a:r>
            <a:r>
              <a:rPr lang="fr-CA" b="1" dirty="0">
                <a:solidFill>
                  <a:schemeClr val="tx1"/>
                </a:solidFill>
              </a:rPr>
              <a:t>retourner une valeur</a:t>
            </a:r>
            <a:r>
              <a:rPr lang="fr-CA" dirty="0">
                <a:solidFill>
                  <a:schemeClr val="tx1"/>
                </a:solidFill>
              </a:rPr>
              <a:t> selon la comparaison qui remplit les conditions nécessaires</a:t>
            </a:r>
          </a:p>
          <a:p>
            <a:pPr>
              <a:buFont typeface="Arial" panose="020B0604020202020204" pitchFamily="34" charset="0"/>
              <a:buChar char="•"/>
            </a:pPr>
            <a:endParaRPr lang="fr-CA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On peut définir plusieurs conditions ainsi qu’une condition par défaut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On peut aussi s’en servir pour faire des calculs conditionnels dans une requête</a:t>
            </a:r>
          </a:p>
        </p:txBody>
      </p:sp>
    </p:spTree>
    <p:extLst>
      <p:ext uri="{BB962C8B-B14F-4D97-AF65-F5344CB8AC3E}">
        <p14:creationId xmlns:p14="http://schemas.microsoft.com/office/powerpoint/2010/main" val="16673558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fr-CA" dirty="0"/>
              <a:t> (suite)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56</a:t>
            </a:fld>
            <a:endParaRPr lang="fr-CA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22959" y="1922903"/>
            <a:ext cx="7543801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</a:p>
          <a:p>
            <a:pPr marL="292608" lvl="1" indent="0">
              <a:buNone/>
            </a:pP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CreditRating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CreditRating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sz="18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when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 </a:t>
            </a:r>
            <a:r>
              <a:rPr lang="fr-CA" sz="18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then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'Supérieur'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sz="18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when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2 </a:t>
            </a:r>
            <a:r>
              <a:rPr lang="fr-CA" sz="18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then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'Excellent'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sz="18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when</a:t>
            </a:r>
            <a:r>
              <a:rPr lang="fr-CA" sz="1800" cap="al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3 </a:t>
            </a:r>
            <a:r>
              <a:rPr lang="fr-CA" sz="18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then</a:t>
            </a:r>
            <a:r>
              <a:rPr lang="fr-CA" sz="1800" cap="al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'Au dessus de la moyenne'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sz="18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when</a:t>
            </a:r>
            <a:r>
              <a:rPr lang="fr-CA" sz="1800" cap="al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4 </a:t>
            </a:r>
            <a:r>
              <a:rPr lang="fr-CA" sz="18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then</a:t>
            </a:r>
            <a:r>
              <a:rPr lang="fr-CA" sz="1800" cap="al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'Moyenne'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sz="18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when</a:t>
            </a:r>
            <a:r>
              <a:rPr lang="fr-CA" sz="1800" cap="al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5 </a:t>
            </a:r>
            <a:r>
              <a:rPr lang="fr-CA" sz="18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then</a:t>
            </a:r>
            <a:r>
              <a:rPr lang="fr-CA" sz="1800" cap="all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'Sous la moyenne'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sz="18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'Autre cote de crédit'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COUNT(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CreditRating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'Nombre de fournisseurs'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CA" sz="18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Purchasing</a:t>
            </a:r>
            <a:r>
              <a:rPr lang="fr-CA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Vendor</a:t>
            </a:r>
            <a:endParaRPr lang="fr-CA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CA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GROUP BY</a:t>
            </a:r>
            <a:r>
              <a:rPr lang="fr-CA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CreditRating</a:t>
            </a:r>
            <a:endParaRPr lang="fr-CA" sz="1800" dirty="0">
              <a:solidFill>
                <a:srgbClr val="808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3974" y="1922903"/>
            <a:ext cx="318135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4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>
                <a:latin typeface="Courier New" panose="02070309020205020404" pitchFamily="49" charset="0"/>
                <a:cs typeface="Courier New" panose="02070309020205020404" pitchFamily="49" charset="0"/>
              </a:rPr>
              <a:t>COALESCE</a:t>
            </a:r>
            <a:r>
              <a:rPr lang="fr-CA" dirty="0"/>
              <a:t>()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6122A42A-6D93-4D0A-AE23-55584C403684}" type="slidenum">
              <a:rPr lang="fr-CA" kern="0" smtClean="0"/>
              <a:pPr defTabSz="914400"/>
              <a:t>57</a:t>
            </a:fld>
            <a:endParaRPr lang="fr-CA" kern="0" dirty="0"/>
          </a:p>
        </p:txBody>
      </p:sp>
      <p:sp>
        <p:nvSpPr>
          <p:cNvPr id="4" name="Rectangle 3"/>
          <p:cNvSpPr/>
          <p:nvPr/>
        </p:nvSpPr>
        <p:spPr>
          <a:xfrm>
            <a:off x="822959" y="1856921"/>
            <a:ext cx="7543801" cy="4279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CA" dirty="0">
                <a:solidFill>
                  <a:schemeClr val="tx1"/>
                </a:solidFill>
              </a:rPr>
              <a:t>La fonction 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COALESCE</a:t>
            </a:r>
            <a:r>
              <a:rPr lang="fr-CA" dirty="0">
                <a:solidFill>
                  <a:schemeClr val="tx1"/>
                </a:solidFill>
              </a:rPr>
              <a:t>(…) est un raccourcit du 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fr-CA" dirty="0">
                <a:solidFill>
                  <a:schemeClr val="tx1"/>
                </a:solidFill>
              </a:rPr>
              <a:t>. Au lieu d’utiliser : </a:t>
            </a:r>
          </a:p>
          <a:p>
            <a:endParaRPr lang="fr-CA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</a:p>
          <a:p>
            <a:pPr lvl="2"/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WHEN</a:t>
            </a:r>
            <a:r>
              <a:rPr lang="en-US" dirty="0">
                <a:solidFill>
                  <a:schemeClr val="tx1"/>
                </a:solidFill>
              </a:rPr>
              <a:t> (expression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en-US" dirty="0">
                <a:solidFill>
                  <a:schemeClr val="tx1"/>
                </a:solidFill>
              </a:rPr>
              <a:t> resultat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</a:p>
          <a:p>
            <a:pPr lvl="2"/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WHEN</a:t>
            </a:r>
            <a:r>
              <a:rPr lang="en-US" dirty="0">
                <a:solidFill>
                  <a:schemeClr val="tx1"/>
                </a:solidFill>
              </a:rPr>
              <a:t> (expression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en-US" dirty="0">
                <a:solidFill>
                  <a:schemeClr val="tx1"/>
                </a:solidFill>
              </a:rPr>
              <a:t> resultat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…</a:t>
            </a:r>
          </a:p>
          <a:p>
            <a:pPr lvl="2"/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solidFill>
                  <a:schemeClr val="tx1"/>
                </a:solidFill>
              </a:rPr>
              <a:t> resultat</a:t>
            </a:r>
            <a:r>
              <a:rPr lang="en-US" baseline="-25000" dirty="0">
                <a:solidFill>
                  <a:schemeClr val="tx1"/>
                </a:solidFill>
              </a:rPr>
              <a:t>N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endParaRPr lang="fr-CA" dirty="0">
              <a:solidFill>
                <a:srgbClr val="0000FF"/>
              </a:solidFill>
            </a:endParaRPr>
          </a:p>
          <a:p>
            <a:r>
              <a:rPr lang="fr-CA" u="sng" dirty="0">
                <a:solidFill>
                  <a:schemeClr val="tx1"/>
                </a:solidFill>
              </a:rPr>
              <a:t>On utilise simplement :</a:t>
            </a:r>
          </a:p>
          <a:p>
            <a:endParaRPr lang="fr-CA" u="sng" dirty="0">
              <a:solidFill>
                <a:schemeClr val="tx1"/>
              </a:solidFill>
            </a:endParaRPr>
          </a:p>
          <a:p>
            <a:r>
              <a:rPr lang="fr-CA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COALESCE</a:t>
            </a:r>
            <a:r>
              <a:rPr lang="fr-CA" dirty="0">
                <a:solidFill>
                  <a:srgbClr val="0000FF"/>
                </a:solidFill>
              </a:rPr>
              <a:t> </a:t>
            </a:r>
            <a:r>
              <a:rPr lang="fr-CA" dirty="0">
                <a:solidFill>
                  <a:schemeClr val="tx1"/>
                </a:solidFill>
              </a:rPr>
              <a:t>(expression</a:t>
            </a:r>
            <a:r>
              <a:rPr lang="fr-CA" baseline="-25000" dirty="0">
                <a:solidFill>
                  <a:schemeClr val="tx1"/>
                </a:solidFill>
              </a:rPr>
              <a:t>1</a:t>
            </a:r>
            <a:r>
              <a:rPr lang="fr-CA" dirty="0">
                <a:solidFill>
                  <a:schemeClr val="tx1"/>
                </a:solidFill>
              </a:rPr>
              <a:t>, expression</a:t>
            </a:r>
            <a:r>
              <a:rPr lang="fr-CA" baseline="-25000" dirty="0">
                <a:solidFill>
                  <a:schemeClr val="tx1"/>
                </a:solidFill>
              </a:rPr>
              <a:t>2</a:t>
            </a:r>
            <a:r>
              <a:rPr lang="fr-CA" dirty="0">
                <a:solidFill>
                  <a:schemeClr val="tx1"/>
                </a:solidFill>
              </a:rPr>
              <a:t>)</a:t>
            </a:r>
          </a:p>
          <a:p>
            <a:endParaRPr lang="fr-CA" dirty="0">
              <a:solidFill>
                <a:schemeClr val="tx1"/>
              </a:solidFill>
            </a:endParaRPr>
          </a:p>
          <a:p>
            <a:r>
              <a:rPr lang="fr-CA" dirty="0">
                <a:solidFill>
                  <a:schemeClr val="tx1"/>
                </a:solidFill>
              </a:rPr>
              <a:t>Qui retournera expression</a:t>
            </a:r>
            <a:r>
              <a:rPr lang="fr-CA" baseline="-25000" dirty="0">
                <a:solidFill>
                  <a:schemeClr val="tx1"/>
                </a:solidFill>
              </a:rPr>
              <a:t>1</a:t>
            </a:r>
            <a:r>
              <a:rPr lang="fr-CA" dirty="0">
                <a:solidFill>
                  <a:schemeClr val="tx1"/>
                </a:solidFill>
              </a:rPr>
              <a:t> si 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NULL</a:t>
            </a:r>
            <a:r>
              <a:rPr lang="fr-CA" dirty="0">
                <a:solidFill>
                  <a:schemeClr val="tx1"/>
                </a:solidFill>
              </a:rPr>
              <a:t>; autrement ce sera expression</a:t>
            </a:r>
            <a:r>
              <a:rPr lang="fr-CA" baseline="-25000" dirty="0">
                <a:solidFill>
                  <a:schemeClr val="tx1"/>
                </a:solidFill>
              </a:rPr>
              <a:t>2</a:t>
            </a:r>
            <a:r>
              <a:rPr lang="fr-CA" dirty="0">
                <a:solidFill>
                  <a:schemeClr val="tx1"/>
                </a:solidFill>
              </a:rPr>
              <a:t> qui sera retournée.</a:t>
            </a:r>
          </a:p>
        </p:txBody>
      </p:sp>
    </p:spTree>
    <p:extLst>
      <p:ext uri="{BB962C8B-B14F-4D97-AF65-F5344CB8AC3E}">
        <p14:creationId xmlns:p14="http://schemas.microsoft.com/office/powerpoint/2010/main" val="11072940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>
                <a:latin typeface="Courier New" panose="02070309020205020404" pitchFamily="49" charset="0"/>
                <a:cs typeface="Courier New" panose="02070309020205020404" pitchFamily="49" charset="0"/>
              </a:rPr>
              <a:t>COALESCE</a:t>
            </a:r>
            <a:r>
              <a:rPr lang="fr-CA" dirty="0"/>
              <a:t>()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6122A42A-6D93-4D0A-AE23-55584C403684}" type="slidenum">
              <a:rPr lang="fr-CA" kern="0" smtClean="0"/>
              <a:pPr defTabSz="914400"/>
              <a:t>58</a:t>
            </a:fld>
            <a:endParaRPr lang="fr-CA" kern="0" dirty="0"/>
          </a:p>
        </p:txBody>
      </p:sp>
      <p:sp>
        <p:nvSpPr>
          <p:cNvPr id="9" name="Rectangle 8"/>
          <p:cNvSpPr/>
          <p:nvPr/>
        </p:nvSpPr>
        <p:spPr>
          <a:xfrm>
            <a:off x="822959" y="1856921"/>
            <a:ext cx="7543801" cy="3193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CA" dirty="0">
                <a:solidFill>
                  <a:srgbClr val="FF00FF"/>
                </a:solidFill>
                <a:latin typeface="Consolas" panose="020B0609020204030204" pitchFamily="49" charset="0"/>
              </a:rPr>
              <a:t>COALESCE</a:t>
            </a:r>
            <a:r>
              <a:rPr lang="fr-CA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fr-CA" dirty="0" err="1">
                <a:solidFill>
                  <a:prstClr val="black"/>
                </a:solidFill>
                <a:latin typeface="Consolas" panose="020B0609020204030204" pitchFamily="49" charset="0"/>
              </a:rPr>
              <a:t>psc</a:t>
            </a:r>
            <a:r>
              <a:rPr lang="fr-CA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r-CA" dirty="0" err="1">
                <a:solidFill>
                  <a:prstClr val="black"/>
                </a:solidFill>
                <a:latin typeface="Consolas" panose="020B0609020204030204" pitchFamily="49" charset="0"/>
              </a:rPr>
              <a:t>Name</a:t>
            </a:r>
            <a:r>
              <a:rPr lang="fr-CA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fr-CA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fr-CA" dirty="0">
                <a:solidFill>
                  <a:srgbClr val="FF00FF"/>
                </a:solidFill>
                <a:latin typeface="Consolas" panose="020B0609020204030204" pitchFamily="49" charset="0"/>
              </a:rPr>
              <a:t>CONCAT</a:t>
            </a:r>
            <a:r>
              <a:rPr lang="fr-CA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fr-CA" dirty="0">
                <a:solidFill>
                  <a:srgbClr val="FF0000"/>
                </a:solidFill>
                <a:latin typeface="Consolas" panose="020B0609020204030204" pitchFamily="49" charset="0"/>
              </a:rPr>
              <a:t>'Il n''y a pas de sous-catégorie pour ce produit : '</a:t>
            </a:r>
            <a:r>
              <a:rPr lang="fr-CA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fr-CA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prstClr val="black"/>
                </a:solidFill>
                <a:latin typeface="Consolas" panose="020B0609020204030204" pitchFamily="49" charset="0"/>
              </a:rPr>
              <a:t>p</a:t>
            </a:r>
            <a:r>
              <a:rPr lang="fr-CA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r-CA" dirty="0" err="1">
                <a:solidFill>
                  <a:prstClr val="black"/>
                </a:solidFill>
                <a:latin typeface="Consolas" panose="020B0609020204030204" pitchFamily="49" charset="0"/>
              </a:rPr>
              <a:t>Name</a:t>
            </a:r>
            <a:r>
              <a:rPr lang="fr-CA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</a:p>
          <a:p>
            <a:endParaRPr lang="fr-CA" dirty="0">
              <a:solidFill>
                <a:srgbClr val="80808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Si </a:t>
            </a:r>
            <a:r>
              <a:rPr lang="fr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psc.Name</a:t>
            </a:r>
            <a:r>
              <a:rPr lang="fr-CA" dirty="0">
                <a:solidFill>
                  <a:schemeClr val="tx1"/>
                </a:solidFill>
              </a:rPr>
              <a:t> est 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NULL</a:t>
            </a:r>
            <a:r>
              <a:rPr lang="fr-CA" dirty="0">
                <a:solidFill>
                  <a:schemeClr val="tx1"/>
                </a:solidFill>
              </a:rPr>
              <a:t>, on affiche sa valeur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Si </a:t>
            </a:r>
            <a:r>
              <a:rPr lang="fr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psc.Name</a:t>
            </a:r>
            <a:r>
              <a:rPr lang="fr-CA" dirty="0">
                <a:solidFill>
                  <a:schemeClr val="tx1"/>
                </a:solidFill>
              </a:rPr>
              <a:t> est 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fr-CA" dirty="0">
                <a:solidFill>
                  <a:schemeClr val="tx1"/>
                </a:solidFill>
              </a:rPr>
              <a:t>, on affiche le résultat de la concaténation</a:t>
            </a:r>
          </a:p>
        </p:txBody>
      </p:sp>
    </p:spTree>
    <p:extLst>
      <p:ext uri="{BB962C8B-B14F-4D97-AF65-F5344CB8AC3E}">
        <p14:creationId xmlns:p14="http://schemas.microsoft.com/office/powerpoint/2010/main" val="42257940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>
                <a:latin typeface="Courier New" panose="02070309020205020404" pitchFamily="49" charset="0"/>
                <a:cs typeface="Courier New" panose="02070309020205020404" pitchFamily="49" charset="0"/>
              </a:rPr>
              <a:t>COALESCE</a:t>
            </a:r>
            <a:r>
              <a:rPr lang="fr-CA" dirty="0"/>
              <a:t>()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6122A42A-6D93-4D0A-AE23-55584C403684}" type="slidenum">
              <a:rPr lang="fr-CA" kern="0" smtClean="0"/>
              <a:pPr defTabSz="914400"/>
              <a:t>59</a:t>
            </a:fld>
            <a:endParaRPr lang="fr-CA" kern="0" dirty="0"/>
          </a:p>
        </p:txBody>
      </p:sp>
      <p:sp>
        <p:nvSpPr>
          <p:cNvPr id="5" name="Content Placeholder 2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Pour tous les produits, lorsqu'il n'y a pas de sous-catégorie ou de catégorie, n’afficher que le nom du produit (</a:t>
            </a:r>
            <a:r>
              <a:rPr lang="fr-CA" dirty="0">
                <a:solidFill>
                  <a:srgbClr val="FF0000"/>
                </a:solidFill>
              </a:rPr>
              <a:t>en spécifiant dans les champs concernés que c’est </a:t>
            </a:r>
            <a:r>
              <a:rPr lang="fr-CA" i="1" dirty="0">
                <a:solidFill>
                  <a:srgbClr val="FF0000"/>
                </a:solidFill>
              </a:rPr>
              <a:t>le nom du produit </a:t>
            </a:r>
            <a:r>
              <a:rPr lang="fr-CA" dirty="0">
                <a:solidFill>
                  <a:srgbClr val="FF0000"/>
                </a:solidFill>
              </a:rPr>
              <a:t>et non de la sous-catégorie ou de la catégorie</a:t>
            </a:r>
            <a:r>
              <a:rPr lang="fr-CA" dirty="0">
                <a:solidFill>
                  <a:schemeClr val="tx1"/>
                </a:solidFill>
              </a:rPr>
              <a:t>).</a:t>
            </a:r>
          </a:p>
          <a:p>
            <a:pPr marL="292608" lvl="1" indent="0">
              <a:buNone/>
            </a:pPr>
            <a:r>
              <a:rPr lang="fr-CA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endParaRPr lang="fr-CA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[Name] </a:t>
            </a: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'Nom du produit'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psc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[Name] </a:t>
            </a: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'Nom de la sous-catégorie'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coalesce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psc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[Name]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'Il n''y a pas de sous-catégorie pour ce produit : '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[Name]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'User-</a:t>
            </a:r>
            <a:r>
              <a:rPr lang="fr-CA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friendly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1'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pc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[Name] </a:t>
            </a: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'Nom de la catégorie'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coalesce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pc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[Name]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'Il n''y a pas de catégorie pour ce produit : '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[Name]</a:t>
            </a:r>
            <a:r>
              <a:rPr lang="fr-CA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'User-</a:t>
            </a:r>
            <a:r>
              <a:rPr lang="fr-CA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friendly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fr-CA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2'</a:t>
            </a:r>
            <a:endParaRPr lang="fr-CA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sz="14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Production</a:t>
            </a:r>
            <a:r>
              <a:rPr lang="fr-CA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</a:t>
            </a:r>
          </a:p>
          <a:p>
            <a:pPr marL="292608" lvl="1" indent="0">
              <a:buNone/>
            </a:pPr>
            <a:r>
              <a:rPr lang="fr-CA" sz="1400" cap="all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left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400" cap="all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Production</a:t>
            </a:r>
            <a:r>
              <a:rPr lang="fr-CA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ProductSubcategory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psc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ON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fr-CA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ProductSubcategoryID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psc</a:t>
            </a:r>
            <a:r>
              <a:rPr lang="fr-CA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ProductSubcategoryID</a:t>
            </a:r>
            <a:endParaRPr lang="fr-CA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sz="1400" cap="all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left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400" cap="all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Production</a:t>
            </a:r>
            <a:r>
              <a:rPr lang="fr-CA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ProductCategory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pc </a:t>
            </a:r>
            <a:r>
              <a:rPr lang="fr-CA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ON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psc</a:t>
            </a:r>
            <a:r>
              <a:rPr lang="fr-CA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ProductCategoryID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CA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pc</a:t>
            </a:r>
            <a:r>
              <a:rPr lang="fr-CA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ProductCategoryID</a:t>
            </a:r>
            <a:endParaRPr lang="fr-CA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77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>
                <a:latin typeface="Courier New" panose="02070309020205020404" pitchFamily="49" charset="0"/>
                <a:cs typeface="Courier New" panose="02070309020205020404" pitchFamily="49" charset="0"/>
              </a:rPr>
              <a:t>COALESCE</a:t>
            </a:r>
            <a:r>
              <a:rPr lang="fr-CA" dirty="0"/>
              <a:t>()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6122A42A-6D93-4D0A-AE23-55584C403684}" type="slidenum">
              <a:rPr lang="fr-CA" kern="0" smtClean="0"/>
              <a:pPr defTabSz="914400"/>
              <a:t>60</a:t>
            </a:fld>
            <a:endParaRPr lang="fr-CA" kern="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66" y="3312437"/>
            <a:ext cx="8422784" cy="2615718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Pour tous les produits, lorsqu'il n'y a pas de sous-catégorie ou de catégorie, n’afficher que le nom du produit (</a:t>
            </a:r>
            <a:r>
              <a:rPr lang="fr-CA" dirty="0">
                <a:solidFill>
                  <a:srgbClr val="FF0000"/>
                </a:solidFill>
              </a:rPr>
              <a:t>en spécifiant dans les champs concernés que c’est </a:t>
            </a:r>
            <a:r>
              <a:rPr lang="fr-CA" i="1" dirty="0">
                <a:solidFill>
                  <a:srgbClr val="FF0000"/>
                </a:solidFill>
              </a:rPr>
              <a:t>le nom du produit </a:t>
            </a:r>
            <a:r>
              <a:rPr lang="fr-CA" dirty="0">
                <a:solidFill>
                  <a:srgbClr val="FF0000"/>
                </a:solidFill>
              </a:rPr>
              <a:t>et non de la sous-catégorie ou de la catégorie</a:t>
            </a:r>
            <a:r>
              <a:rPr lang="fr-CA" dirty="0">
                <a:solidFill>
                  <a:schemeClr val="tx1"/>
                </a:solidFill>
              </a:rPr>
              <a:t>).</a:t>
            </a:r>
            <a:endParaRPr lang="fr-CA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6623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Exercice</a:t>
            </a:r>
            <a:r>
              <a:rPr lang="en-US" dirty="0"/>
              <a:t> 7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61</a:t>
            </a:fld>
            <a:endParaRPr lang="fr-CA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Afficher la liste des </a:t>
            </a:r>
            <a:r>
              <a:rPr lang="fr-CA" i="1" dirty="0">
                <a:solidFill>
                  <a:srgbClr val="FF0000"/>
                </a:solidFill>
              </a:rPr>
              <a:t>détails</a:t>
            </a:r>
            <a:r>
              <a:rPr lang="fr-CA" dirty="0">
                <a:solidFill>
                  <a:srgbClr val="FF0000"/>
                </a:solidFill>
              </a:rPr>
              <a:t> de commande</a:t>
            </a:r>
            <a:r>
              <a:rPr lang="fr-CA" dirty="0">
                <a:solidFill>
                  <a:schemeClr val="tx1"/>
                </a:solidFill>
              </a:rPr>
              <a:t> avec une colonne appelé « </a:t>
            </a:r>
            <a:r>
              <a:rPr lang="fr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Discounted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fr-CA" dirty="0">
                <a:solidFill>
                  <a:schemeClr val="tx1"/>
                </a:solidFill>
              </a:rPr>
              <a:t> » prenant la valeur « </a:t>
            </a:r>
            <a:r>
              <a:rPr lang="fr-CA" dirty="0" err="1">
                <a:solidFill>
                  <a:schemeClr val="tx1"/>
                </a:solidFill>
              </a:rPr>
              <a:t>yes</a:t>
            </a:r>
            <a:r>
              <a:rPr lang="fr-CA" dirty="0">
                <a:solidFill>
                  <a:schemeClr val="tx1"/>
                </a:solidFill>
              </a:rPr>
              <a:t> » ou « no », selon le cas, si la ligne de commande contient un produit en promotion (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UnitPriceDiscount</a:t>
            </a:r>
            <a:r>
              <a:rPr lang="fr-CA" dirty="0">
                <a:solidFill>
                  <a:schemeClr val="tx1"/>
                </a:solidFill>
              </a:rPr>
              <a:t>) (3-4 minutes)</a:t>
            </a:r>
          </a:p>
          <a:p>
            <a:pPr>
              <a:buFont typeface="Arial" panose="020B0604020202020204" pitchFamily="34" charset="0"/>
              <a:buChar char="•"/>
            </a:pPr>
            <a:endParaRPr lang="fr-CA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CA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sod</a:t>
            </a:r>
            <a:r>
              <a:rPr lang="fr-CA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SalesOrderDetailID</a:t>
            </a:r>
            <a:r>
              <a:rPr lang="fr-CA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fr-CA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000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sod</a:t>
            </a:r>
            <a:r>
              <a:rPr lang="fr-CA" sz="2000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UnitPriceDiscount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75488" lvl="2" indent="0">
              <a:buNone/>
            </a:pPr>
            <a:r>
              <a:rPr lang="fr-CA" sz="2000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when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 </a:t>
            </a:r>
            <a:r>
              <a:rPr lang="fr-CA" sz="2000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'no'</a:t>
            </a:r>
            <a:endParaRPr lang="fr-CA" sz="20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75488" lvl="2" indent="0">
              <a:buNone/>
            </a:pPr>
            <a:r>
              <a:rPr lang="fr-CA" sz="2000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fr-CA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yes</a:t>
            </a:r>
            <a:r>
              <a:rPr lang="fr-CA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fr-CA" sz="20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 indent="0">
              <a:buNone/>
            </a:pPr>
            <a:r>
              <a:rPr lang="fr-CA" sz="2000" cap="all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fr-CA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fr-CA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Discounted</a:t>
            </a:r>
            <a:r>
              <a:rPr lang="fr-CA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?'</a:t>
            </a:r>
            <a:endParaRPr lang="fr-CA" sz="20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cap="all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</a:t>
            </a:r>
            <a:r>
              <a:rPr lang="fr-CA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SalesOrderDetail</a:t>
            </a:r>
            <a:r>
              <a:rPr lang="fr-CA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sod</a:t>
            </a:r>
            <a:r>
              <a:rPr lang="fr-CA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3208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Exercice 8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62</a:t>
            </a:fld>
            <a:endParaRPr lang="fr-CA" dirty="0"/>
          </a:p>
        </p:txBody>
      </p:sp>
      <p:sp>
        <p:nvSpPr>
          <p:cNvPr id="6" name="Content Placehold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22960" y="1922903"/>
            <a:ext cx="75438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Donnez le nombre de commandes (</a:t>
            </a:r>
            <a:r>
              <a:rPr lang="fr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SalesOrderHeader</a:t>
            </a:r>
            <a:r>
              <a:rPr lang="fr-CA" dirty="0">
                <a:solidFill>
                  <a:schemeClr val="tx1"/>
                </a:solidFill>
              </a:rPr>
              <a:t>) en fonction d’escomptes attribués aux produits (</a:t>
            </a:r>
            <a:r>
              <a:rPr lang="fr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SalesOrderDetail</a:t>
            </a:r>
            <a:r>
              <a:rPr lang="fr-CA" dirty="0">
                <a:solidFill>
                  <a:schemeClr val="tx1"/>
                </a:solidFill>
              </a:rPr>
              <a:t>) qui y font partie. Le format doit être le suivant: (10 minutes)</a:t>
            </a:r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014845728"/>
              </p:ext>
            </p:extLst>
          </p:nvPr>
        </p:nvGraphicFramePr>
        <p:xfrm>
          <a:off x="2347494" y="3407692"/>
          <a:ext cx="4494728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Nombre de commandes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Avec article(s) </a:t>
                      </a:r>
                      <a:r>
                        <a:rPr lang="en-US" dirty="0" err="1"/>
                        <a:t>en</a:t>
                      </a:r>
                      <a:r>
                        <a:rPr lang="en-US" dirty="0"/>
                        <a:t> promotion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916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30550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20926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383466" y="1936750"/>
            <a:ext cx="8422784" cy="4323644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endParaRPr lang="fr-CA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sz="16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COUNT(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soh</a:t>
            </a:r>
            <a:r>
              <a:rPr lang="fr-CA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SalesOrderID</a:t>
            </a:r>
            <a:r>
              <a:rPr lang="fr-CA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'Nombre de commandes'</a:t>
            </a:r>
            <a:r>
              <a:rPr lang="fr-CA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fr-CA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sz="16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SubQ</a:t>
            </a:r>
            <a:r>
              <a:rPr lang="fr-CA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Discounted</a:t>
            </a:r>
            <a:endParaRPr lang="fr-CA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sz="16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when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 </a:t>
            </a:r>
            <a:r>
              <a:rPr lang="fr-CA" sz="16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then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'No'</a:t>
            </a:r>
            <a:endParaRPr lang="fr-CA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fr-CA" sz="16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fr-CA" sz="16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Yes</a:t>
            </a:r>
            <a:r>
              <a:rPr lang="fr-CA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endParaRPr lang="fr-CA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sz="16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'Avec article(s) en promotion'</a:t>
            </a:r>
            <a:endParaRPr lang="fr-CA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CA" sz="16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</a:t>
            </a:r>
            <a:r>
              <a:rPr lang="fr-CA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SalesOrderHeader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soh</a:t>
            </a:r>
            <a:endParaRPr lang="fr-CA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INNER JOIN 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sod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SalesOrderID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cap="all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SUM</a:t>
            </a:r>
            <a:r>
              <a:rPr lang="en-US" sz="1600" cap="all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sod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UnitPriceDiscount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 </a:t>
            </a:r>
            <a:r>
              <a:rPr lang="en-US" sz="16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 </a:t>
            </a:r>
            <a:r>
              <a:rPr lang="en-US" sz="16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 </a:t>
            </a:r>
            <a:r>
              <a:rPr lang="en-US" sz="16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AS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'Discounted'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sz="1600" cap="all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</a:t>
            </a:r>
            <a:r>
              <a:rPr lang="fr-CA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SalesOrderDetail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sod</a:t>
            </a:r>
            <a:endParaRPr lang="fr-CA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fr-CA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GROUP BY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sod</a:t>
            </a:r>
            <a:r>
              <a:rPr lang="fr-CA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SalesOrderID</a:t>
            </a:r>
            <a:r>
              <a:rPr lang="fr-CA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SubQ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ON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soh</a:t>
            </a:r>
            <a:r>
              <a:rPr lang="fr-CA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SalesOrderID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fr-CA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SubQ</a:t>
            </a:r>
            <a:r>
              <a:rPr lang="fr-CA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fr-CA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SalesOrderID</a:t>
            </a:r>
            <a:endParaRPr lang="fr-CA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GROUP BY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SubQ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Discounted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 </a:t>
            </a:r>
            <a:r>
              <a:rPr lang="en-US" sz="16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'No'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'Yes'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cap="all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endParaRPr lang="en-US" sz="1600" cap="all" dirty="0">
              <a:solidFill>
                <a:srgbClr val="808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Exercice 8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36654595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Travail à faire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6122A42A-6D93-4D0A-AE23-55584C403684}" type="slidenum">
              <a:rPr lang="fr-CA" smtClean="0"/>
              <a:t>64</a:t>
            </a:fld>
            <a:endParaRPr lang="fr-CA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822960" y="1907822"/>
            <a:ext cx="7543800" cy="385321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tx1"/>
                </a:solidFill>
              </a:rPr>
              <a:t>TP</a:t>
            </a:r>
          </a:p>
          <a:p>
            <a:pPr marL="201168" lvl="1" indent="0">
              <a:buNone/>
            </a:pPr>
            <a:endParaRPr lang="fr-C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5844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21232</TotalTime>
  <Words>5414</Words>
  <Application>Microsoft Office PowerPoint</Application>
  <PresentationFormat>Affichage à l'écran (4:3)</PresentationFormat>
  <Paragraphs>703</Paragraphs>
  <Slides>64</Slides>
  <Notes>60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64</vt:i4>
      </vt:variant>
    </vt:vector>
  </HeadingPairs>
  <TitlesOfParts>
    <vt:vector size="73" baseType="lpstr">
      <vt:lpstr>Arial</vt:lpstr>
      <vt:lpstr>Calibri</vt:lpstr>
      <vt:lpstr>Calibri Light</vt:lpstr>
      <vt:lpstr>Consolas</vt:lpstr>
      <vt:lpstr>Courier New</vt:lpstr>
      <vt:lpstr>Symbol</vt:lpstr>
      <vt:lpstr>Wingdings</vt:lpstr>
      <vt:lpstr>Retrospect</vt:lpstr>
      <vt:lpstr>Thème Office</vt:lpstr>
      <vt:lpstr>Business Intelligence(BI)  Système d’Information Décisionnel    Pr. A.Riadsolh v-Anouar.riadsolh@hec.ac.ma  2025/2026</vt:lpstr>
      <vt:lpstr>PLAN</vt:lpstr>
      <vt:lpstr>Rappel sur leTransact-SQL (T-SQL) </vt:lpstr>
      <vt:lpstr>Microsoft SQL Server (T-SQL)</vt:lpstr>
      <vt:lpstr>BD AdventureWorks:  Jointure (tables) </vt:lpstr>
      <vt:lpstr>Grouper des résultats</vt:lpstr>
      <vt:lpstr>Grouper des résultats (suite)</vt:lpstr>
      <vt:lpstr>Fonctions d’agrégation</vt:lpstr>
      <vt:lpstr>AVG, SUM, COUNT</vt:lpstr>
      <vt:lpstr>MIN, MAX</vt:lpstr>
      <vt:lpstr>Fonctions d’agrégation (suite)</vt:lpstr>
      <vt:lpstr>Fonctions d’agrégation (suite)</vt:lpstr>
      <vt:lpstr>Grouper des résultats (suite)</vt:lpstr>
      <vt:lpstr>Grouper des résultats (suite)</vt:lpstr>
      <vt:lpstr>Groupement de résultats</vt:lpstr>
      <vt:lpstr>Groupement de résultats (suite)</vt:lpstr>
      <vt:lpstr>Grouper des résultats (suite)</vt:lpstr>
      <vt:lpstr>Groupement de résultats (suite)</vt:lpstr>
      <vt:lpstr>Ordonner des résultats</vt:lpstr>
      <vt:lpstr>Ordonner des résultats (suite)</vt:lpstr>
      <vt:lpstr>Exercice 1</vt:lpstr>
      <vt:lpstr>Exercice 2</vt:lpstr>
      <vt:lpstr>Filtrage de résultats</vt:lpstr>
      <vt:lpstr>Filtrage de résultats (suite)</vt:lpstr>
      <vt:lpstr>Filtrage de résultats (suite)</vt:lpstr>
      <vt:lpstr>Exercice 3</vt:lpstr>
      <vt:lpstr>Résultats uniques</vt:lpstr>
      <vt:lpstr>Combinaison de résultats multiples</vt:lpstr>
      <vt:lpstr>Combinaison de résultats multiples (suite)</vt:lpstr>
      <vt:lpstr>Combinaison de résultats multiples (suite)</vt:lpstr>
      <vt:lpstr>Combinaison de résultats multiples (suite)</vt:lpstr>
      <vt:lpstr>Exercice 4</vt:lpstr>
      <vt:lpstr>Exercice 4</vt:lpstr>
      <vt:lpstr>Mise en contexte avec l’intelligence d’affaires</vt:lpstr>
      <vt:lpstr>Mise en contexte avec l’intelligence d’affaires</vt:lpstr>
      <vt:lpstr>Vues / Views</vt:lpstr>
      <vt:lpstr>Vues / Views (suite)</vt:lpstr>
      <vt:lpstr>Vues / Views (suite)</vt:lpstr>
      <vt:lpstr>Vues / Views (suite)</vt:lpstr>
      <vt:lpstr>Vues / Views (suite)</vt:lpstr>
      <vt:lpstr>Exercice 5</vt:lpstr>
      <vt:lpstr>Présentation PowerPoint</vt:lpstr>
      <vt:lpstr>Exercice 6</vt:lpstr>
      <vt:lpstr>Fonctions prédéfinies</vt:lpstr>
      <vt:lpstr>Fonctions scalaires (date)</vt:lpstr>
      <vt:lpstr>Fonctions scalaires (date) (suite)</vt:lpstr>
      <vt:lpstr>Fonctions scalaires (date) (suite)</vt:lpstr>
      <vt:lpstr>Fonctions scalaires (math)</vt:lpstr>
      <vt:lpstr>Fonctions scalaires (math) (suite)</vt:lpstr>
      <vt:lpstr>Fonctions scalaires (string)</vt:lpstr>
      <vt:lpstr>Fonctions scalaires (string) (suite)</vt:lpstr>
      <vt:lpstr>Fonctions scalaires (string) (suite)</vt:lpstr>
      <vt:lpstr>Fonctions scalaires (string) (suite)</vt:lpstr>
      <vt:lpstr>Fonctions scalaires (string) (suite)</vt:lpstr>
      <vt:lpstr>CASE</vt:lpstr>
      <vt:lpstr>CASE (suite)</vt:lpstr>
      <vt:lpstr>COALESCE()</vt:lpstr>
      <vt:lpstr>COALESCE()</vt:lpstr>
      <vt:lpstr>COALESCE()</vt:lpstr>
      <vt:lpstr>COALESCE()</vt:lpstr>
      <vt:lpstr>Exercice 7</vt:lpstr>
      <vt:lpstr>Exercice 8</vt:lpstr>
      <vt:lpstr>Exercice 8</vt:lpstr>
      <vt:lpstr>Travail à faire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3-712-16  Gestion des bases de données</dc:title>
  <dc:creator>HP</dc:creator>
  <cp:lastModifiedBy>Anouar RIADSOLH</cp:lastModifiedBy>
  <cp:revision>1426</cp:revision>
  <cp:lastPrinted>2017-08-17T15:33:04Z</cp:lastPrinted>
  <dcterms:created xsi:type="dcterms:W3CDTF">2016-07-26T16:46:35Z</dcterms:created>
  <dcterms:modified xsi:type="dcterms:W3CDTF">2026-02-07T22:54:12Z</dcterms:modified>
</cp:coreProperties>
</file>